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70" r:id="rId1"/>
    <p:sldMasterId id="2147483671" r:id="rId2"/>
  </p:sldMasterIdLst>
  <p:notesMasterIdLst>
    <p:notesMasterId r:id="rId9"/>
  </p:notesMasterIdLst>
  <p:sldIdLst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embeddedFontLst>
    <p:embeddedFont>
      <p:font typeface="Garamond" panose="02020404030301010803" pitchFamily="18" charset="0"/>
      <p:regular r:id="rId10"/>
      <p:bold r:id="rId11"/>
      <p:italic r:id="rId12"/>
      <p:boldItalic r:id="rId13"/>
    </p:embeddedFont>
    <p:embeddedFont>
      <p:font typeface="Oswald" panose="00000500000000000000"/>
      <p:regular r:id="rId14"/>
      <p:bold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F3DD0B4-ABDA-42F6-84D2-FAC7B514C1A7}">
  <a:tblStyle styleId="{3F3DD0B4-ABDA-42F6-84D2-FAC7B514C1A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5"/>
  </p:normalViewPr>
  <p:slideViewPr>
    <p:cSldViewPr snapToGrid="0">
      <p:cViewPr varScale="1">
        <p:scale>
          <a:sx n="119" d="100"/>
          <a:sy n="119" d="100"/>
        </p:scale>
        <p:origin x="8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4.fntdata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font" Target="fonts/font3.fntdata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2.fntdata"/><Relationship Id="rId5" Type="http://schemas.openxmlformats.org/officeDocument/2006/relationships/slide" Target="slides/slide3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72" name="Google Shape;17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98" name="Google Shape;19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Technologies to be used (e.g. programming languages, frameworks, hardware)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Methodology and process for implementation (Flow Charts/Images/ working prototype)</a:t>
            </a:r>
            <a:endParaRPr/>
          </a:p>
        </p:txBody>
      </p:sp>
      <p:sp>
        <p:nvSpPr>
          <p:cNvPr id="199" name="Google Shape;199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fa1b18c13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414" name="Google Shape;414;g3fa1b18c13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g3fa1b18c135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485" name="Google Shape;48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6" name="Google Shape;486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528" name="Google Shape;52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9" name="Google Shape;529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580606" y="-1875631"/>
            <a:ext cx="5030788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285038" y="1828804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697038" y="-812796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4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3" name="Google Shape;93;p1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5"/>
          <p:cNvSpPr txBox="1"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92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1pPr>
            <a:lvl2pPr marL="914400" lvl="1" indent="-3492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–"/>
              <a:defRPr/>
            </a:lvl2pPr>
            <a:lvl3pPr marL="1371600" lvl="2" indent="-3492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3pPr>
            <a:lvl4pPr marL="1828800" lvl="3" indent="-3492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–"/>
              <a:defRPr/>
            </a:lvl4pPr>
            <a:lvl5pPr marL="2286000" lvl="4" indent="-3492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»"/>
              <a:defRPr/>
            </a:lvl5pPr>
            <a:lvl6pPr marL="2743200" lvl="5" indent="-3492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p1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500"/>
              <a:buNone/>
              <a:defRPr sz="4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6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5" name="Google Shape;105;p1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1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17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92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–"/>
              <a:defRPr sz="1900"/>
            </a:lvl4pPr>
            <a:lvl5pPr marL="2286000" lvl="4" indent="-3492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»"/>
              <a:defRPr sz="1900"/>
            </a:lvl5pPr>
            <a:lvl6pPr marL="2743200" lvl="5" indent="-3492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6pPr>
            <a:lvl7pPr marL="3200400" lvl="6" indent="-3492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7pPr>
            <a:lvl8pPr marL="3657600" lvl="7" indent="-3492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8pPr>
            <a:lvl9pPr marL="4114800" lvl="8" indent="-3492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9pPr>
          </a:lstStyle>
          <a:p>
            <a:endParaRPr/>
          </a:p>
        </p:txBody>
      </p:sp>
      <p:sp>
        <p:nvSpPr>
          <p:cNvPr id="111" name="Google Shape;111;p17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92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–"/>
              <a:defRPr sz="1900"/>
            </a:lvl4pPr>
            <a:lvl5pPr marL="2286000" lvl="4" indent="-3492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»"/>
              <a:defRPr sz="1900"/>
            </a:lvl5pPr>
            <a:lvl6pPr marL="2743200" lvl="5" indent="-3492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6pPr>
            <a:lvl7pPr marL="3200400" lvl="6" indent="-3492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7pPr>
            <a:lvl8pPr marL="3657600" lvl="7" indent="-3492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8pPr>
            <a:lvl9pPr marL="4114800" lvl="8" indent="-3492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9pPr>
          </a:lstStyle>
          <a:p>
            <a:endParaRPr/>
          </a:p>
        </p:txBody>
      </p:sp>
      <p:sp>
        <p:nvSpPr>
          <p:cNvPr id="112" name="Google Shape;112;p1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1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1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18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 b="1"/>
            </a:lvl3pPr>
            <a:lvl4pPr marL="1828800" lvl="3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8" name="Google Shape;118;p18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92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3pPr>
            <a:lvl4pPr marL="1828800" lvl="3" indent="-330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19" name="Google Shape;119;p18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 b="1"/>
            </a:lvl3pPr>
            <a:lvl4pPr marL="1828800" lvl="3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0" name="Google Shape;120;p18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92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3pPr>
            <a:lvl4pPr marL="1828800" lvl="3" indent="-330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21" name="Google Shape;121;p1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1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1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1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1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1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2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2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5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21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36" name="Google Shape;136;p21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3pPr>
            <a:lvl4pPr marL="1828800" lvl="3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37" name="Google Shape;137;p2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2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2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2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5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22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p22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3pPr>
            <a:lvl4pPr marL="1828800" lvl="3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44" name="Google Shape;144;p2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2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2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3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23"/>
          <p:cNvSpPr txBox="1">
            <a:spLocks noGrp="1"/>
          </p:cNvSpPr>
          <p:nvPr>
            <p:ph type="body" idx="1"/>
          </p:nvPr>
        </p:nvSpPr>
        <p:spPr>
          <a:xfrm rot="5400000">
            <a:off x="3580606" y="-1875631"/>
            <a:ext cx="5030788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92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1pPr>
            <a:lvl2pPr marL="914400" lvl="1" indent="-3492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–"/>
              <a:defRPr/>
            </a:lvl2pPr>
            <a:lvl3pPr marL="1371600" lvl="2" indent="-3492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3pPr>
            <a:lvl4pPr marL="1828800" lvl="3" indent="-3492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–"/>
              <a:defRPr/>
            </a:lvl4pPr>
            <a:lvl5pPr marL="2286000" lvl="4" indent="-3492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»"/>
              <a:defRPr/>
            </a:lvl5pPr>
            <a:lvl6pPr marL="2743200" lvl="5" indent="-3492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  <p:sp>
        <p:nvSpPr>
          <p:cNvPr id="150" name="Google Shape;150;p2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2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2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4"/>
          <p:cNvSpPr txBox="1">
            <a:spLocks noGrp="1"/>
          </p:cNvSpPr>
          <p:nvPr>
            <p:ph type="title"/>
          </p:nvPr>
        </p:nvSpPr>
        <p:spPr>
          <a:xfrm rot="5400000">
            <a:off x="7285038" y="1828803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24"/>
          <p:cNvSpPr txBox="1">
            <a:spLocks noGrp="1"/>
          </p:cNvSpPr>
          <p:nvPr>
            <p:ph type="body" idx="1"/>
          </p:nvPr>
        </p:nvSpPr>
        <p:spPr>
          <a:xfrm rot="5400000">
            <a:off x="1697038" y="-812797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92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1pPr>
            <a:lvl2pPr marL="914400" lvl="1" indent="-3492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–"/>
              <a:defRPr/>
            </a:lvl2pPr>
            <a:lvl3pPr marL="1371600" lvl="2" indent="-3492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3pPr>
            <a:lvl4pPr marL="1828800" lvl="3" indent="-3492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–"/>
              <a:defRPr/>
            </a:lvl4pPr>
            <a:lvl5pPr marL="2286000" lvl="4" indent="-3492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»"/>
              <a:defRPr/>
            </a:lvl5pPr>
            <a:lvl6pPr marL="2743200" lvl="5" indent="-3492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  <p:sp>
        <p:nvSpPr>
          <p:cNvPr id="156" name="Google Shape;156;p2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2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2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914400" marR="0" lvl="1" indent="-4064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1371600" marR="0" lvl="2" indent="-3810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500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 sz="1200" b="0" i="0" u="none" strike="noStrike" cap="non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5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20.png"/><Relationship Id="rId18" Type="http://schemas.openxmlformats.org/officeDocument/2006/relationships/image" Target="../media/image25.png"/><Relationship Id="rId26" Type="http://schemas.openxmlformats.org/officeDocument/2006/relationships/image" Target="../media/image33.png"/><Relationship Id="rId3" Type="http://schemas.openxmlformats.org/officeDocument/2006/relationships/image" Target="../media/image2.png"/><Relationship Id="rId21" Type="http://schemas.openxmlformats.org/officeDocument/2006/relationships/image" Target="../media/image28.png"/><Relationship Id="rId7" Type="http://schemas.openxmlformats.org/officeDocument/2006/relationships/image" Target="../media/image11.png"/><Relationship Id="rId12" Type="http://schemas.openxmlformats.org/officeDocument/2006/relationships/image" Target="../media/image19.png"/><Relationship Id="rId17" Type="http://schemas.openxmlformats.org/officeDocument/2006/relationships/image" Target="../media/image24.png"/><Relationship Id="rId25" Type="http://schemas.openxmlformats.org/officeDocument/2006/relationships/image" Target="../media/image32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3.png"/><Relationship Id="rId20" Type="http://schemas.openxmlformats.org/officeDocument/2006/relationships/image" Target="../media/image27.png"/><Relationship Id="rId29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8.png"/><Relationship Id="rId24" Type="http://schemas.openxmlformats.org/officeDocument/2006/relationships/image" Target="../media/image31.png"/><Relationship Id="rId5" Type="http://schemas.openxmlformats.org/officeDocument/2006/relationships/image" Target="../media/image15.png"/><Relationship Id="rId15" Type="http://schemas.openxmlformats.org/officeDocument/2006/relationships/image" Target="../media/image22.png"/><Relationship Id="rId23" Type="http://schemas.openxmlformats.org/officeDocument/2006/relationships/image" Target="../media/image30.png"/><Relationship Id="rId28" Type="http://schemas.openxmlformats.org/officeDocument/2006/relationships/image" Target="../media/image35.png"/><Relationship Id="rId10" Type="http://schemas.openxmlformats.org/officeDocument/2006/relationships/image" Target="../media/image17.png"/><Relationship Id="rId19" Type="http://schemas.openxmlformats.org/officeDocument/2006/relationships/image" Target="../media/image26.png"/><Relationship Id="rId31" Type="http://schemas.openxmlformats.org/officeDocument/2006/relationships/image" Target="../media/image38.png"/><Relationship Id="rId4" Type="http://schemas.openxmlformats.org/officeDocument/2006/relationships/image" Target="../media/image14.png"/><Relationship Id="rId9" Type="http://schemas.openxmlformats.org/officeDocument/2006/relationships/image" Target="../media/image16.png"/><Relationship Id="rId14" Type="http://schemas.openxmlformats.org/officeDocument/2006/relationships/image" Target="../media/image21.png"/><Relationship Id="rId22" Type="http://schemas.openxmlformats.org/officeDocument/2006/relationships/image" Target="../media/image29.png"/><Relationship Id="rId27" Type="http://schemas.openxmlformats.org/officeDocument/2006/relationships/image" Target="../media/image34.png"/><Relationship Id="rId30" Type="http://schemas.openxmlformats.org/officeDocument/2006/relationships/image" Target="../media/image3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image" Target="../media/image48.png"/><Relationship Id="rId3" Type="http://schemas.openxmlformats.org/officeDocument/2006/relationships/image" Target="../media/image2.png"/><Relationship Id="rId7" Type="http://schemas.openxmlformats.org/officeDocument/2006/relationships/image" Target="../media/image42.png"/><Relationship Id="rId12" Type="http://schemas.openxmlformats.org/officeDocument/2006/relationships/image" Target="../media/image4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1.png"/><Relationship Id="rId11" Type="http://schemas.openxmlformats.org/officeDocument/2006/relationships/image" Target="../media/image46.png"/><Relationship Id="rId5" Type="http://schemas.openxmlformats.org/officeDocument/2006/relationships/image" Target="../media/image40.png"/><Relationship Id="rId10" Type="http://schemas.openxmlformats.org/officeDocument/2006/relationships/image" Target="../media/image45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Relationship Id="rId14" Type="http://schemas.openxmlformats.org/officeDocument/2006/relationships/image" Target="../media/image4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13" Type="http://schemas.openxmlformats.org/officeDocument/2006/relationships/image" Target="../media/image58.png"/><Relationship Id="rId3" Type="http://schemas.openxmlformats.org/officeDocument/2006/relationships/image" Target="../media/image2.png"/><Relationship Id="rId7" Type="http://schemas.openxmlformats.org/officeDocument/2006/relationships/image" Target="../media/image52.png"/><Relationship Id="rId12" Type="http://schemas.openxmlformats.org/officeDocument/2006/relationships/image" Target="../media/image57.png"/><Relationship Id="rId1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11" Type="http://schemas.openxmlformats.org/officeDocument/2006/relationships/image" Target="../media/image56.png"/><Relationship Id="rId5" Type="http://schemas.openxmlformats.org/officeDocument/2006/relationships/image" Target="../media/image50.png"/><Relationship Id="rId15" Type="http://schemas.openxmlformats.org/officeDocument/2006/relationships/image" Target="../media/image60.png"/><Relationship Id="rId10" Type="http://schemas.openxmlformats.org/officeDocument/2006/relationships/image" Target="../media/image55.png"/><Relationship Id="rId4" Type="http://schemas.openxmlformats.org/officeDocument/2006/relationships/image" Target="../media/image37.png"/><Relationship Id="rId9" Type="http://schemas.openxmlformats.org/officeDocument/2006/relationships/image" Target="../media/image54.png"/><Relationship Id="rId14" Type="http://schemas.openxmlformats.org/officeDocument/2006/relationships/image" Target="../media/image5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en.vikaspedia.in/viewcontent/e-governance/digital-india/india-ai-governance-guidelines?lgn=en" TargetMode="External"/><Relationship Id="rId13" Type="http://schemas.openxmlformats.org/officeDocument/2006/relationships/hyperlink" Target="https://github.com/PaddlePaddle/PaddleOCR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ssrana.in/articles/meity-notifies-final-digital-personal-data-protection-rules-2025/" TargetMode="External"/><Relationship Id="rId12" Type="http://schemas.openxmlformats.org/officeDocument/2006/relationships/hyperlink" Target="https://arxiv.org/abs/2507.00827" TargetMode="External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vesit.ves.ac.in/storage/aicte/1775193851EOA%20Report%202026-27%20(2).PDF" TargetMode="External"/><Relationship Id="rId11" Type="http://schemas.openxmlformats.org/officeDocument/2006/relationships/hyperlink" Target="https://pyhanko.readthedocs.io/" TargetMode="External"/><Relationship Id="rId5" Type="http://schemas.openxmlformats.org/officeDocument/2006/relationships/hyperlink" Target="https://indiankanoon.org/doc/163708613/" TargetMode="External"/><Relationship Id="rId15" Type="http://schemas.openxmlformats.org/officeDocument/2006/relationships/image" Target="../media/image62.png"/><Relationship Id="rId10" Type="http://schemas.openxmlformats.org/officeDocument/2006/relationships/hyperlink" Target="https://cdn.digilocker.gov.in/nad/assets/circulars/4%20Circular_AICTE_NAD_DigiLocker_06_2021.pdf" TargetMode="External"/><Relationship Id="rId4" Type="http://schemas.openxmlformats.org/officeDocument/2006/relationships/hyperlink" Target="https://cdnbbsr.s3waas.gov.in/s35938b4d054136e5d59ada6ec9c295d7a/uploads/2025/03/2025031399.pdf" TargetMode="External"/><Relationship Id="rId9" Type="http://schemas.openxmlformats.org/officeDocument/2006/relationships/hyperlink" Target="https://entity.digilocker.gov.in/assets/img/Requester%20-%20Entity%20Locker%20API%20Specification_28_11_24.pdf" TargetMode="External"/><Relationship Id="rId14" Type="http://schemas.openxmlformats.org/officeDocument/2006/relationships/hyperlink" Target="https://www.driems.ac.in/wp-content/uploads/2024/08/SIH_2024_PS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5"/>
          <p:cNvSpPr/>
          <p:nvPr/>
        </p:nvSpPr>
        <p:spPr>
          <a:xfrm>
            <a:off x="152400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5"/>
          <p:cNvSpPr/>
          <p:nvPr/>
        </p:nvSpPr>
        <p:spPr>
          <a:xfrm>
            <a:off x="5656780" y="851521"/>
            <a:ext cx="4638605" cy="5154967"/>
          </a:xfrm>
          <a:custGeom>
            <a:avLst/>
            <a:gdLst/>
            <a:ahLst/>
            <a:cxnLst/>
            <a:rect l="l" t="t" r="r" b="b"/>
            <a:pathLst>
              <a:path w="6184806" h="5154967" extrusionOk="0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rgbClr val="7F7F7F">
              <a:alpha val="14902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5" name="Google Shape;165;p25"/>
          <p:cNvPicPr preferRelativeResize="0"/>
          <p:nvPr/>
        </p:nvPicPr>
        <p:blipFill rotWithShape="1">
          <a:blip r:embed="rId3">
            <a:alphaModFix/>
          </a:blip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5"/>
          <p:cNvSpPr txBox="1"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TITLE PAGE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7" name="Google Shape;167;p25"/>
          <p:cNvSpPr txBox="1">
            <a:spLocks noGrp="1"/>
          </p:cNvSpPr>
          <p:nvPr>
            <p:ph type="ctrTitle"/>
          </p:nvPr>
        </p:nvSpPr>
        <p:spPr>
          <a:xfrm>
            <a:off x="331286" y="-526757"/>
            <a:ext cx="10363200" cy="20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SMART INDIA HACKATHON 2026</a:t>
            </a:r>
            <a:endParaRPr sz="4000" b="1">
              <a:solidFill>
                <a:schemeClr val="dk2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68" name="Google Shape;168;p25"/>
          <p:cNvSpPr txBox="1"/>
          <p:nvPr/>
        </p:nvSpPr>
        <p:spPr>
          <a:xfrm>
            <a:off x="331275" y="2138400"/>
            <a:ext cx="6678000" cy="43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730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 Statement ID: </a:t>
            </a:r>
            <a:r>
              <a:rPr lang="en-US" sz="1600" b="1">
                <a:solidFill>
                  <a:srgbClr val="6AA84F"/>
                </a:solidFill>
                <a:latin typeface="Calibri"/>
                <a:ea typeface="Calibri"/>
                <a:cs typeface="Calibri"/>
                <a:sym typeface="Calibri"/>
              </a:rPr>
              <a:t>26261</a:t>
            </a:r>
            <a:endParaRPr sz="1600" b="1">
              <a:solidFill>
                <a:srgbClr val="6AA8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730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 Statement Title: </a:t>
            </a:r>
            <a:r>
              <a:rPr lang="en-US" sz="1600" b="1">
                <a:solidFill>
                  <a:srgbClr val="6AA84F"/>
                </a:solidFill>
                <a:latin typeface="Calibri"/>
                <a:ea typeface="Calibri"/>
                <a:cs typeface="Calibri"/>
                <a:sym typeface="Calibri"/>
              </a:rPr>
              <a:t>AI-Powered Application Validation, Document Authentication and Regulatory Compliance Verification</a:t>
            </a:r>
            <a:endParaRPr sz="1600" b="1">
              <a:solidFill>
                <a:srgbClr val="6AA8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730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Theme: </a:t>
            </a:r>
            <a:r>
              <a:rPr lang="en-US" sz="1600" b="1">
                <a:solidFill>
                  <a:srgbClr val="6AA84F"/>
                </a:solidFill>
                <a:latin typeface="Calibri"/>
                <a:ea typeface="Calibri"/>
                <a:cs typeface="Calibri"/>
                <a:sym typeface="Calibri"/>
              </a:rPr>
              <a:t>[Theme as listed on the SIH portal]</a:t>
            </a:r>
            <a:endParaRPr sz="1600" b="1">
              <a:solidFill>
                <a:srgbClr val="6AA8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730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PS Category: </a:t>
            </a:r>
            <a:r>
              <a:rPr lang="en-US" sz="1600" b="1">
                <a:solidFill>
                  <a:srgbClr val="6AA84F"/>
                </a:solidFill>
                <a:latin typeface="Calibri"/>
                <a:ea typeface="Calibri"/>
                <a:cs typeface="Calibri"/>
                <a:sym typeface="Calibri"/>
              </a:rPr>
              <a:t>Software</a:t>
            </a:r>
            <a:endParaRPr sz="1600" b="1">
              <a:solidFill>
                <a:srgbClr val="6AA8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730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Team ID: </a:t>
            </a:r>
            <a:r>
              <a:rPr lang="en-US" sz="1600" b="1">
                <a:solidFill>
                  <a:srgbClr val="6AA84F"/>
                </a:solidFill>
                <a:latin typeface="Calibri"/>
                <a:ea typeface="Calibri"/>
                <a:cs typeface="Calibri"/>
                <a:sym typeface="Calibri"/>
              </a:rPr>
              <a:t>BMS/SIH2026/54</a:t>
            </a:r>
            <a:endParaRPr sz="1600" b="1">
              <a:solidFill>
                <a:srgbClr val="6AA8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730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Team Name (Registered on portal): </a:t>
            </a:r>
            <a:r>
              <a:rPr lang="en-US" sz="1600" b="1">
                <a:solidFill>
                  <a:srgbClr val="6AA84F"/>
                </a:solidFill>
                <a:latin typeface="Calibri"/>
                <a:ea typeface="Calibri"/>
                <a:cs typeface="Calibri"/>
                <a:sym typeface="Calibri"/>
              </a:rPr>
              <a:t>CITADEL</a:t>
            </a:r>
            <a:endParaRPr sz="1600" b="1">
              <a:solidFill>
                <a:srgbClr val="6AA8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9" name="Google Shape;169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58404" y="16423"/>
            <a:ext cx="2113821" cy="990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6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6"/>
          <p:cNvSpPr txBox="1"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IDEA TITLE</a:t>
            </a:r>
            <a:endParaRPr sz="3600"/>
          </a:p>
        </p:txBody>
      </p:sp>
      <p:sp>
        <p:nvSpPr>
          <p:cNvPr id="178" name="Google Shape;178;p2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lt1"/>
                </a:solidFill>
              </a:rPr>
              <a:t>2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79" name="Google Shape;179;p26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@SIH Idea submission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80" name="Google Shape;180;p26" descr="Your startup LOGO"/>
          <p:cNvSpPr/>
          <p:nvPr/>
        </p:nvSpPr>
        <p:spPr>
          <a:xfrm>
            <a:off x="329773" y="198456"/>
            <a:ext cx="1251857" cy="807334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Citadel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5" name="Google Shape;19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58404" y="16423"/>
            <a:ext cx="2113821" cy="990251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Rounded Rectangle 195"/>
          <p:cNvSpPr/>
          <p:nvPr/>
        </p:nvSpPr>
        <p:spPr>
          <a:xfrm>
            <a:off x="274320" y="1024128"/>
            <a:ext cx="11658600" cy="749808"/>
          </a:xfrm>
          <a:prstGeom prst="roundRect">
            <a:avLst>
              <a:gd name="adj" fmla="val 14634"/>
            </a:avLst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7" name="TextBox 196"/>
          <p:cNvSpPr txBox="1"/>
          <p:nvPr/>
        </p:nvSpPr>
        <p:spPr>
          <a:xfrm>
            <a:off x="411480" y="1042415"/>
            <a:ext cx="11430000" cy="7132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200" b="1" i="0">
                <a:solidFill>
                  <a:srgbClr val="1F5FAD"/>
                </a:solidFill>
                <a:latin typeface="Arial"/>
              </a:rPr>
              <a:t>Proposed Solution: </a:t>
            </a:r>
            <a:r>
              <a:rPr sz="1200" b="1" i="0">
                <a:solidFill>
                  <a:srgbClr val="E8772E"/>
                </a:solidFill>
                <a:latin typeface="Arial"/>
              </a:rPr>
              <a:t>DossierGraph</a:t>
            </a:r>
            <a:r>
              <a:rPr sz="1200" b="0" i="0">
                <a:solidFill>
                  <a:srgbClr val="1F2937"/>
                </a:solidFill>
                <a:latin typeface="Arial"/>
              </a:rPr>
              <a:t> is an on-premise AI pre-scrutiny engine that validates an institution's whole AICTE approval dossier: every document against its </a:t>
            </a:r>
            <a:r>
              <a:rPr sz="1200" b="1" i="0">
                <a:solidFill>
                  <a:srgbClr val="1F2937"/>
                </a:solidFill>
                <a:latin typeface="Arial"/>
              </a:rPr>
              <a:t>issuing authority</a:t>
            </a:r>
            <a:r>
              <a:rPr sz="1200" b="0" i="0">
                <a:solidFill>
                  <a:srgbClr val="1F2937"/>
                </a:solidFill>
                <a:latin typeface="Arial"/>
              </a:rPr>
              <a:t>, against </a:t>
            </a:r>
            <a:r>
              <a:rPr sz="1200" b="1" i="0">
                <a:solidFill>
                  <a:srgbClr val="1F2937"/>
                </a:solidFill>
                <a:latin typeface="Arial"/>
              </a:rPr>
              <a:t>20 APH 2024-27 rules</a:t>
            </a:r>
            <a:r>
              <a:rPr sz="1200" b="0" i="0">
                <a:solidFill>
                  <a:srgbClr val="1F2937"/>
                </a:solidFill>
                <a:latin typeface="Arial"/>
              </a:rPr>
              <a:t>, and against </a:t>
            </a:r>
            <a:r>
              <a:rPr sz="1200" b="1" i="0">
                <a:solidFill>
                  <a:srgbClr val="1F2937"/>
                </a:solidFill>
                <a:latin typeface="Arial"/>
              </a:rPr>
              <a:t>every other document</a:t>
            </a:r>
            <a:r>
              <a:rPr sz="1200" b="0" i="0">
                <a:solidFill>
                  <a:srgbClr val="1F2937"/>
                </a:solidFill>
                <a:latin typeface="Arial"/>
              </a:rPr>
              <a:t>. Officers get evidence-linked findings and an inspection list; they make every decision.</a:t>
            </a:r>
          </a:p>
        </p:txBody>
      </p:sp>
      <p:pic>
        <p:nvPicPr>
          <p:cNvPr id="198" name="Picture 197" descr="FaTriangleExclamation_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1892807"/>
            <a:ext cx="219456" cy="219456"/>
          </a:xfrm>
          <a:prstGeom prst="rect">
            <a:avLst/>
          </a:prstGeom>
        </p:spPr>
      </p:pic>
      <p:sp>
        <p:nvSpPr>
          <p:cNvPr id="199" name="TextBox 198"/>
          <p:cNvSpPr txBox="1"/>
          <p:nvPr/>
        </p:nvSpPr>
        <p:spPr>
          <a:xfrm>
            <a:off x="548640" y="1865376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  <a:latin typeface="Arial"/>
              </a:rPr>
              <a:t>Addressing the Problem</a:t>
            </a:r>
          </a:p>
        </p:txBody>
      </p:sp>
      <p:sp>
        <p:nvSpPr>
          <p:cNvPr id="200" name="Rounded Rectangle 199"/>
          <p:cNvSpPr/>
          <p:nvPr/>
        </p:nvSpPr>
        <p:spPr>
          <a:xfrm>
            <a:off x="274320" y="2212848"/>
            <a:ext cx="3383280" cy="1252728"/>
          </a:xfrm>
          <a:prstGeom prst="roundRect">
            <a:avLst>
              <a:gd name="adj" fmla="val 8759"/>
            </a:avLst>
          </a:prstGeom>
          <a:solidFill>
            <a:srgbClr val="FB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1" name="Oval 200"/>
          <p:cNvSpPr/>
          <p:nvPr/>
        </p:nvSpPr>
        <p:spPr>
          <a:xfrm>
            <a:off x="365760" y="2304288"/>
            <a:ext cx="384048" cy="38404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202" name="Picture 201" descr="FaFileContract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250" y="2388778"/>
            <a:ext cx="215066" cy="215066"/>
          </a:xfrm>
          <a:prstGeom prst="rect">
            <a:avLst/>
          </a:prstGeom>
        </p:spPr>
      </p:pic>
      <p:sp>
        <p:nvSpPr>
          <p:cNvPr id="203" name="TextBox 202"/>
          <p:cNvSpPr txBox="1"/>
          <p:nvPr/>
        </p:nvSpPr>
        <p:spPr>
          <a:xfrm>
            <a:off x="822960" y="2276856"/>
            <a:ext cx="27889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50" b="1" i="0">
                <a:solidFill>
                  <a:srgbClr val="C0392B"/>
                </a:solidFill>
                <a:latin typeface="Arial"/>
              </a:rPr>
              <a:t>Self-disclosure is trusted at entry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822960" y="2542032"/>
            <a:ext cx="2788920" cy="5486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Arial"/>
              </a:rPr>
              <a:t>EoA letters list deficiencies "based on Self Disclosure", fixed up to 6 months later.</a:t>
            </a:r>
          </a:p>
        </p:txBody>
      </p:sp>
      <p:sp>
        <p:nvSpPr>
          <p:cNvPr id="205" name="Rounded Rectangle 204"/>
          <p:cNvSpPr/>
          <p:nvPr/>
        </p:nvSpPr>
        <p:spPr>
          <a:xfrm>
            <a:off x="365760" y="3099815"/>
            <a:ext cx="3200400" cy="274320"/>
          </a:xfrm>
          <a:prstGeom prst="roundRect">
            <a:avLst>
              <a:gd name="adj" fmla="val 26666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6" name="TextBox 205"/>
          <p:cNvSpPr txBox="1"/>
          <p:nvPr/>
        </p:nvSpPr>
        <p:spPr>
          <a:xfrm>
            <a:off x="365760" y="3099815"/>
            <a:ext cx="3200400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rial"/>
              </a:rPr>
              <a:t>→ Every document cross-checked at submission</a:t>
            </a:r>
          </a:p>
        </p:txBody>
      </p:sp>
      <p:sp>
        <p:nvSpPr>
          <p:cNvPr id="207" name="Rounded Rectangle 206"/>
          <p:cNvSpPr/>
          <p:nvPr/>
        </p:nvSpPr>
        <p:spPr>
          <a:xfrm>
            <a:off x="274320" y="3557015"/>
            <a:ext cx="3383280" cy="1252728"/>
          </a:xfrm>
          <a:prstGeom prst="roundRect">
            <a:avLst>
              <a:gd name="adj" fmla="val 8759"/>
            </a:avLst>
          </a:prstGeom>
          <a:solidFill>
            <a:srgbClr val="FB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8" name="Oval 207"/>
          <p:cNvSpPr/>
          <p:nvPr/>
        </p:nvSpPr>
        <p:spPr>
          <a:xfrm>
            <a:off x="365760" y="3648456"/>
            <a:ext cx="384048" cy="38404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209" name="Picture 208" descr="FaMask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0250" y="3732946"/>
            <a:ext cx="215066" cy="215066"/>
          </a:xfrm>
          <a:prstGeom prst="rect">
            <a:avLst/>
          </a:prstGeom>
        </p:spPr>
      </p:pic>
      <p:sp>
        <p:nvSpPr>
          <p:cNvPr id="210" name="TextBox 209"/>
          <p:cNvSpPr txBox="1"/>
          <p:nvPr/>
        </p:nvSpPr>
        <p:spPr>
          <a:xfrm>
            <a:off x="822960" y="3621023"/>
            <a:ext cx="27889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50" b="1" i="0">
                <a:solidFill>
                  <a:srgbClr val="C0392B"/>
                </a:solidFill>
                <a:latin typeface="Arial"/>
              </a:rPr>
              <a:t>Fraud is caught late, if at all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822960" y="3886200"/>
            <a:ext cx="2788920" cy="5486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Arial"/>
              </a:rPr>
              <a:t>APH Cl. 2.3.5(b): a fraudulent document means a criminal case, yet detection rests on random EVC visits.</a:t>
            </a:r>
          </a:p>
        </p:txBody>
      </p:sp>
      <p:sp>
        <p:nvSpPr>
          <p:cNvPr id="212" name="Rounded Rectangle 211"/>
          <p:cNvSpPr/>
          <p:nvPr/>
        </p:nvSpPr>
        <p:spPr>
          <a:xfrm>
            <a:off x="365760" y="4443983"/>
            <a:ext cx="3200400" cy="274320"/>
          </a:xfrm>
          <a:prstGeom prst="roundRect">
            <a:avLst>
              <a:gd name="adj" fmla="val 26666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3" name="TextBox 212"/>
          <p:cNvSpPr txBox="1"/>
          <p:nvPr/>
        </p:nvSpPr>
        <p:spPr>
          <a:xfrm>
            <a:off x="365760" y="4443983"/>
            <a:ext cx="3200400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rial"/>
              </a:rPr>
              <a:t>→ Forgery indicators + issuer checks before scrutiny</a:t>
            </a:r>
          </a:p>
        </p:txBody>
      </p:sp>
      <p:sp>
        <p:nvSpPr>
          <p:cNvPr id="214" name="Rounded Rectangle 213"/>
          <p:cNvSpPr/>
          <p:nvPr/>
        </p:nvSpPr>
        <p:spPr>
          <a:xfrm>
            <a:off x="274320" y="4901183"/>
            <a:ext cx="3383280" cy="1252728"/>
          </a:xfrm>
          <a:prstGeom prst="roundRect">
            <a:avLst>
              <a:gd name="adj" fmla="val 8759"/>
            </a:avLst>
          </a:prstGeom>
          <a:solidFill>
            <a:srgbClr val="FB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5" name="Oval 214"/>
          <p:cNvSpPr/>
          <p:nvPr/>
        </p:nvSpPr>
        <p:spPr>
          <a:xfrm>
            <a:off x="365760" y="4992623"/>
            <a:ext cx="384048" cy="38404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216" name="Picture 215" descr="FaRotate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0250" y="5077114"/>
            <a:ext cx="215066" cy="215066"/>
          </a:xfrm>
          <a:prstGeom prst="rect">
            <a:avLst/>
          </a:prstGeom>
        </p:spPr>
      </p:pic>
      <p:sp>
        <p:nvSpPr>
          <p:cNvPr id="217" name="TextBox 216"/>
          <p:cNvSpPr txBox="1"/>
          <p:nvPr/>
        </p:nvSpPr>
        <p:spPr>
          <a:xfrm>
            <a:off x="822960" y="4965192"/>
            <a:ext cx="27889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50" b="1" i="0">
                <a:solidFill>
                  <a:srgbClr val="C0392B"/>
                </a:solidFill>
                <a:latin typeface="Arial"/>
              </a:rPr>
              <a:t>Officers re-check the same papers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822960" y="5230368"/>
            <a:ext cx="2788920" cy="5486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Arial"/>
              </a:rPr>
              <a:t>Deeds, NOCs, OCs and faculty rosters are re-verified by hand every cycle.</a:t>
            </a:r>
          </a:p>
        </p:txBody>
      </p:sp>
      <p:sp>
        <p:nvSpPr>
          <p:cNvPr id="219" name="Rounded Rectangle 218"/>
          <p:cNvSpPr/>
          <p:nvPr/>
        </p:nvSpPr>
        <p:spPr>
          <a:xfrm>
            <a:off x="365760" y="5788151"/>
            <a:ext cx="3200400" cy="274320"/>
          </a:xfrm>
          <a:prstGeom prst="roundRect">
            <a:avLst>
              <a:gd name="adj" fmla="val 26666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0" name="TextBox 219"/>
          <p:cNvSpPr txBox="1"/>
          <p:nvPr/>
        </p:nvSpPr>
        <p:spPr>
          <a:xfrm>
            <a:off x="365760" y="5788151"/>
            <a:ext cx="3200400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rial"/>
              </a:rPr>
              <a:t>→ Severity-ranked queue, clause + evidence per flag</a:t>
            </a:r>
          </a:p>
        </p:txBody>
      </p:sp>
      <p:pic>
        <p:nvPicPr>
          <p:cNvPr id="221" name="Picture 220" descr="FaDiagramProject_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94760" y="1892807"/>
            <a:ext cx="219456" cy="219456"/>
          </a:xfrm>
          <a:prstGeom prst="rect">
            <a:avLst/>
          </a:prstGeom>
        </p:spPr>
      </p:pic>
      <p:sp>
        <p:nvSpPr>
          <p:cNvPr id="222" name="TextBox 221"/>
          <p:cNvSpPr txBox="1"/>
          <p:nvPr/>
        </p:nvSpPr>
        <p:spPr>
          <a:xfrm>
            <a:off x="4069080" y="1865376"/>
            <a:ext cx="4343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>
                <a:solidFill>
                  <a:srgbClr val="1B2A4A"/>
                </a:solidFill>
                <a:latin typeface="Arial"/>
              </a:rPr>
              <a:t>Core idea: the dossier cross-consistency graph</a:t>
            </a:r>
          </a:p>
        </p:txBody>
      </p:sp>
      <p:sp>
        <p:nvSpPr>
          <p:cNvPr id="223" name="Rounded Rectangle 222"/>
          <p:cNvSpPr/>
          <p:nvPr/>
        </p:nvSpPr>
        <p:spPr>
          <a:xfrm>
            <a:off x="3794760" y="2212848"/>
            <a:ext cx="461772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224" name="Connector 223"/>
          <p:cNvCxnSpPr/>
          <p:nvPr/>
        </p:nvCxnSpPr>
        <p:spPr>
          <a:xfrm>
            <a:off x="4411980" y="2560320"/>
            <a:ext cx="1691640" cy="0"/>
          </a:xfrm>
          <a:prstGeom prst="line">
            <a:avLst/>
          </a:prstGeom>
          <a:ln w="19050">
            <a:solidFill>
              <a:srgbClr val="2E8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Connector 224"/>
          <p:cNvCxnSpPr/>
          <p:nvPr/>
        </p:nvCxnSpPr>
        <p:spPr>
          <a:xfrm flipH="1">
            <a:off x="4411980" y="3538728"/>
            <a:ext cx="1691640" cy="0"/>
          </a:xfrm>
          <a:prstGeom prst="line">
            <a:avLst/>
          </a:prstGeom>
          <a:ln w="19050">
            <a:solidFill>
              <a:srgbClr val="2E8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Connector 225"/>
          <p:cNvCxnSpPr/>
          <p:nvPr/>
        </p:nvCxnSpPr>
        <p:spPr>
          <a:xfrm flipH="1" flipV="1">
            <a:off x="4411980" y="2560320"/>
            <a:ext cx="1691640" cy="978408"/>
          </a:xfrm>
          <a:prstGeom prst="line">
            <a:avLst/>
          </a:prstGeom>
          <a:ln w="19050">
            <a:solidFill>
              <a:srgbClr val="2E8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Connector 226"/>
          <p:cNvCxnSpPr/>
          <p:nvPr/>
        </p:nvCxnSpPr>
        <p:spPr>
          <a:xfrm flipV="1">
            <a:off x="6103620" y="2560320"/>
            <a:ext cx="1691640" cy="978408"/>
          </a:xfrm>
          <a:prstGeom prst="line">
            <a:avLst/>
          </a:prstGeom>
          <a:ln w="19050">
            <a:solidFill>
              <a:srgbClr val="2E8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Connector 227"/>
          <p:cNvCxnSpPr/>
          <p:nvPr/>
        </p:nvCxnSpPr>
        <p:spPr>
          <a:xfrm>
            <a:off x="7795260" y="2560320"/>
            <a:ext cx="0" cy="978408"/>
          </a:xfrm>
          <a:prstGeom prst="line">
            <a:avLst/>
          </a:prstGeom>
          <a:ln w="28575">
            <a:solidFill>
              <a:srgbClr val="D99A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Connector 228"/>
          <p:cNvCxnSpPr/>
          <p:nvPr/>
        </p:nvCxnSpPr>
        <p:spPr>
          <a:xfrm>
            <a:off x="6103620" y="3538728"/>
            <a:ext cx="0" cy="1005840"/>
          </a:xfrm>
          <a:prstGeom prst="line">
            <a:avLst/>
          </a:prstGeom>
          <a:ln w="19050">
            <a:solidFill>
              <a:srgbClr val="2E8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Connector 229"/>
          <p:cNvCxnSpPr/>
          <p:nvPr/>
        </p:nvCxnSpPr>
        <p:spPr>
          <a:xfrm flipH="1">
            <a:off x="4411980" y="4544568"/>
            <a:ext cx="1691640" cy="0"/>
          </a:xfrm>
          <a:prstGeom prst="line">
            <a:avLst/>
          </a:prstGeom>
          <a:ln w="19050">
            <a:solidFill>
              <a:srgbClr val="2E8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Connector 230"/>
          <p:cNvCxnSpPr/>
          <p:nvPr/>
        </p:nvCxnSpPr>
        <p:spPr>
          <a:xfrm>
            <a:off x="6103620" y="4544568"/>
            <a:ext cx="1691640" cy="0"/>
          </a:xfrm>
          <a:prstGeom prst="line">
            <a:avLst/>
          </a:prstGeom>
          <a:ln w="28575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Connector 231"/>
          <p:cNvCxnSpPr/>
          <p:nvPr/>
        </p:nvCxnSpPr>
        <p:spPr>
          <a:xfrm flipH="1">
            <a:off x="6103620" y="2560320"/>
            <a:ext cx="1691640" cy="1984248"/>
          </a:xfrm>
          <a:prstGeom prst="line">
            <a:avLst/>
          </a:prstGeom>
          <a:ln w="19050">
            <a:solidFill>
              <a:srgbClr val="2E8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3" name="Rounded Rectangle 232"/>
          <p:cNvSpPr/>
          <p:nvPr/>
        </p:nvSpPr>
        <p:spPr>
          <a:xfrm>
            <a:off x="3886200" y="2331720"/>
            <a:ext cx="1051560" cy="457200"/>
          </a:xfrm>
          <a:prstGeom prst="roundRect">
            <a:avLst>
              <a:gd name="adj" fmla="val 20000"/>
            </a:avLst>
          </a:prstGeom>
          <a:solidFill>
            <a:srgbClr val="1F5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4" name="TextBox 233"/>
          <p:cNvSpPr txBox="1"/>
          <p:nvPr/>
        </p:nvSpPr>
        <p:spPr>
          <a:xfrm>
            <a:off x="3886200" y="2331720"/>
            <a:ext cx="1051560" cy="4572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Land deed</a:t>
            </a:r>
          </a:p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(survey no.)</a:t>
            </a:r>
          </a:p>
        </p:txBody>
      </p:sp>
      <p:sp>
        <p:nvSpPr>
          <p:cNvPr id="235" name="Rounded Rectangle 234"/>
          <p:cNvSpPr/>
          <p:nvPr/>
        </p:nvSpPr>
        <p:spPr>
          <a:xfrm>
            <a:off x="5577840" y="2331720"/>
            <a:ext cx="1051560" cy="457200"/>
          </a:xfrm>
          <a:prstGeom prst="roundRect">
            <a:avLst>
              <a:gd name="adj" fmla="val 20000"/>
            </a:avLst>
          </a:prstGeom>
          <a:solidFill>
            <a:srgbClr val="1F5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6" name="TextBox 235"/>
          <p:cNvSpPr txBox="1"/>
          <p:nvPr/>
        </p:nvSpPr>
        <p:spPr>
          <a:xfrm>
            <a:off x="5577840" y="2331720"/>
            <a:ext cx="1051560" cy="4572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Land-use</a:t>
            </a:r>
          </a:p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certificate</a:t>
            </a:r>
          </a:p>
        </p:txBody>
      </p:sp>
      <p:sp>
        <p:nvSpPr>
          <p:cNvPr id="237" name="Rounded Rectangle 236"/>
          <p:cNvSpPr/>
          <p:nvPr/>
        </p:nvSpPr>
        <p:spPr>
          <a:xfrm>
            <a:off x="7269480" y="2331720"/>
            <a:ext cx="1051560" cy="457200"/>
          </a:xfrm>
          <a:prstGeom prst="roundRect">
            <a:avLst>
              <a:gd name="adj" fmla="val 20000"/>
            </a:avLst>
          </a:prstGeom>
          <a:solidFill>
            <a:srgbClr val="1F5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8" name="TextBox 237"/>
          <p:cNvSpPr txBox="1"/>
          <p:nvPr/>
        </p:nvSpPr>
        <p:spPr>
          <a:xfrm>
            <a:off x="7269480" y="2331720"/>
            <a:ext cx="1051560" cy="4572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Building plan</a:t>
            </a:r>
          </a:p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(area, address)</a:t>
            </a:r>
          </a:p>
        </p:txBody>
      </p:sp>
      <p:sp>
        <p:nvSpPr>
          <p:cNvPr id="239" name="Rounded Rectangle 238"/>
          <p:cNvSpPr/>
          <p:nvPr/>
        </p:nvSpPr>
        <p:spPr>
          <a:xfrm>
            <a:off x="3886200" y="3310128"/>
            <a:ext cx="1051560" cy="457200"/>
          </a:xfrm>
          <a:prstGeom prst="roundRect">
            <a:avLst>
              <a:gd name="adj" fmla="val 20000"/>
            </a:avLst>
          </a:prstGeom>
          <a:solidFill>
            <a:srgbClr val="1F5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0" name="TextBox 239"/>
          <p:cNvSpPr txBox="1"/>
          <p:nvPr/>
        </p:nvSpPr>
        <p:spPr>
          <a:xfrm>
            <a:off x="3886200" y="3310128"/>
            <a:ext cx="1051560" cy="4572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Faculty roster</a:t>
            </a:r>
          </a:p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(IDs, count)</a:t>
            </a:r>
          </a:p>
        </p:txBody>
      </p:sp>
      <p:sp>
        <p:nvSpPr>
          <p:cNvPr id="241" name="Rounded Rectangle 240"/>
          <p:cNvSpPr/>
          <p:nvPr/>
        </p:nvSpPr>
        <p:spPr>
          <a:xfrm>
            <a:off x="5577840" y="3310128"/>
            <a:ext cx="1051560" cy="457200"/>
          </a:xfrm>
          <a:prstGeom prst="roundRect">
            <a:avLst>
              <a:gd name="adj" fmla="val 20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2" name="TextBox 241"/>
          <p:cNvSpPr txBox="1"/>
          <p:nvPr/>
        </p:nvSpPr>
        <p:spPr>
          <a:xfrm>
            <a:off x="5577840" y="3310128"/>
            <a:ext cx="1051560" cy="4572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Application</a:t>
            </a:r>
          </a:p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form</a:t>
            </a:r>
          </a:p>
        </p:txBody>
      </p:sp>
      <p:sp>
        <p:nvSpPr>
          <p:cNvPr id="243" name="Rounded Rectangle 242"/>
          <p:cNvSpPr/>
          <p:nvPr/>
        </p:nvSpPr>
        <p:spPr>
          <a:xfrm>
            <a:off x="7269480" y="3310128"/>
            <a:ext cx="1051560" cy="457200"/>
          </a:xfrm>
          <a:prstGeom prst="roundRect">
            <a:avLst>
              <a:gd name="adj" fmla="val 20000"/>
            </a:avLst>
          </a:prstGeom>
          <a:solidFill>
            <a:srgbClr val="D9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4" name="TextBox 243"/>
          <p:cNvSpPr txBox="1"/>
          <p:nvPr/>
        </p:nvSpPr>
        <p:spPr>
          <a:xfrm>
            <a:off x="7269480" y="3310128"/>
            <a:ext cx="1051560" cy="4572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Affidavit 2</a:t>
            </a:r>
          </a:p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(declared area)</a:t>
            </a:r>
          </a:p>
        </p:txBody>
      </p:sp>
      <p:sp>
        <p:nvSpPr>
          <p:cNvPr id="245" name="Rounded Rectangle 244"/>
          <p:cNvSpPr/>
          <p:nvPr/>
        </p:nvSpPr>
        <p:spPr>
          <a:xfrm>
            <a:off x="3886200" y="4315968"/>
            <a:ext cx="1051560" cy="457200"/>
          </a:xfrm>
          <a:prstGeom prst="roundRect">
            <a:avLst>
              <a:gd name="adj" fmla="val 20000"/>
            </a:avLst>
          </a:prstGeom>
          <a:solidFill>
            <a:srgbClr val="1F5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6" name="TextBox 245"/>
          <p:cNvSpPr txBox="1"/>
          <p:nvPr/>
        </p:nvSpPr>
        <p:spPr>
          <a:xfrm>
            <a:off x="3886200" y="4315968"/>
            <a:ext cx="1051560" cy="4572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Structural</a:t>
            </a:r>
          </a:p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stability cert</a:t>
            </a:r>
          </a:p>
        </p:txBody>
      </p:sp>
      <p:sp>
        <p:nvSpPr>
          <p:cNvPr id="247" name="Rounded Rectangle 246"/>
          <p:cNvSpPr/>
          <p:nvPr/>
        </p:nvSpPr>
        <p:spPr>
          <a:xfrm>
            <a:off x="5577840" y="4315968"/>
            <a:ext cx="1051560" cy="457200"/>
          </a:xfrm>
          <a:prstGeom prst="roundRect">
            <a:avLst>
              <a:gd name="adj" fmla="val 20000"/>
            </a:avLst>
          </a:prstGeom>
          <a:solidFill>
            <a:srgbClr val="1F5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8" name="TextBox 247"/>
          <p:cNvSpPr txBox="1"/>
          <p:nvPr/>
        </p:nvSpPr>
        <p:spPr>
          <a:xfrm>
            <a:off x="5577840" y="4315968"/>
            <a:ext cx="1051560" cy="4572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Occupancy /</a:t>
            </a:r>
          </a:p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completion cert</a:t>
            </a:r>
          </a:p>
        </p:txBody>
      </p:sp>
      <p:sp>
        <p:nvSpPr>
          <p:cNvPr id="249" name="Rounded Rectangle 248"/>
          <p:cNvSpPr/>
          <p:nvPr/>
        </p:nvSpPr>
        <p:spPr>
          <a:xfrm>
            <a:off x="7269480" y="4315968"/>
            <a:ext cx="1051560" cy="457200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0" name="TextBox 249"/>
          <p:cNvSpPr txBox="1"/>
          <p:nvPr/>
        </p:nvSpPr>
        <p:spPr>
          <a:xfrm>
            <a:off x="7269480" y="4315968"/>
            <a:ext cx="1051560" cy="4572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Fire safety</a:t>
            </a:r>
          </a:p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certificate</a:t>
            </a:r>
          </a:p>
        </p:txBody>
      </p:sp>
      <p:sp>
        <p:nvSpPr>
          <p:cNvPr id="251" name="Rounded Rectangle 250"/>
          <p:cNvSpPr/>
          <p:nvPr/>
        </p:nvSpPr>
        <p:spPr>
          <a:xfrm>
            <a:off x="4862779" y="2459736"/>
            <a:ext cx="790041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2" name="TextBox 251"/>
          <p:cNvSpPr txBox="1"/>
          <p:nvPr/>
        </p:nvSpPr>
        <p:spPr>
          <a:xfrm>
            <a:off x="4862779" y="2459736"/>
            <a:ext cx="790041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 i="0">
                <a:solidFill>
                  <a:srgbClr val="2E8B57"/>
                </a:solidFill>
                <a:latin typeface="Arial"/>
              </a:rPr>
              <a:t>survey no. ✓</a:t>
            </a:r>
          </a:p>
        </p:txBody>
      </p:sp>
      <p:sp>
        <p:nvSpPr>
          <p:cNvPr id="253" name="Rounded Rectangle 252"/>
          <p:cNvSpPr/>
          <p:nvPr/>
        </p:nvSpPr>
        <p:spPr>
          <a:xfrm>
            <a:off x="5032857" y="3438144"/>
            <a:ext cx="449884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4" name="TextBox 253"/>
          <p:cNvSpPr txBox="1"/>
          <p:nvPr/>
        </p:nvSpPr>
        <p:spPr>
          <a:xfrm>
            <a:off x="5032857" y="3438144"/>
            <a:ext cx="449884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 i="0">
                <a:solidFill>
                  <a:srgbClr val="2E8B57"/>
                </a:solidFill>
                <a:latin typeface="Arial"/>
              </a:rPr>
              <a:t>1:20 ✓</a:t>
            </a:r>
          </a:p>
        </p:txBody>
      </p:sp>
      <p:sp>
        <p:nvSpPr>
          <p:cNvPr id="255" name="Rounded Rectangle 254"/>
          <p:cNvSpPr/>
          <p:nvPr/>
        </p:nvSpPr>
        <p:spPr>
          <a:xfrm>
            <a:off x="7258507" y="2967228"/>
            <a:ext cx="1073505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D99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6" name="TextBox 255"/>
          <p:cNvSpPr txBox="1"/>
          <p:nvPr/>
        </p:nvSpPr>
        <p:spPr>
          <a:xfrm>
            <a:off x="7258507" y="2967228"/>
            <a:ext cx="1073505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 i="0">
                <a:solidFill>
                  <a:srgbClr val="D99A00"/>
                </a:solidFill>
                <a:latin typeface="Arial"/>
              </a:rPr>
              <a:t>12,000 ≠ 9,800 m²</a:t>
            </a:r>
          </a:p>
        </p:txBody>
      </p:sp>
      <p:sp>
        <p:nvSpPr>
          <p:cNvPr id="257" name="Rounded Rectangle 256"/>
          <p:cNvSpPr/>
          <p:nvPr/>
        </p:nvSpPr>
        <p:spPr>
          <a:xfrm>
            <a:off x="4947818" y="4443983"/>
            <a:ext cx="619963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8" name="TextBox 257"/>
          <p:cNvSpPr txBox="1"/>
          <p:nvPr/>
        </p:nvSpPr>
        <p:spPr>
          <a:xfrm>
            <a:off x="4947818" y="4443983"/>
            <a:ext cx="619963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 i="0">
                <a:solidFill>
                  <a:srgbClr val="2E8B57"/>
                </a:solidFill>
                <a:latin typeface="Arial"/>
              </a:rPr>
              <a:t>CC date ✓</a:t>
            </a:r>
          </a:p>
        </p:txBody>
      </p:sp>
      <p:sp>
        <p:nvSpPr>
          <p:cNvPr id="259" name="Rounded Rectangle 258"/>
          <p:cNvSpPr/>
          <p:nvPr/>
        </p:nvSpPr>
        <p:spPr>
          <a:xfrm>
            <a:off x="6639458" y="4443983"/>
            <a:ext cx="619963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0" name="TextBox 259"/>
          <p:cNvSpPr txBox="1"/>
          <p:nvPr/>
        </p:nvSpPr>
        <p:spPr>
          <a:xfrm>
            <a:off x="6639458" y="4443983"/>
            <a:ext cx="619963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 i="0">
                <a:solidFill>
                  <a:srgbClr val="C0392B"/>
                </a:solidFill>
                <a:latin typeface="Arial"/>
              </a:rPr>
              <a:t>address ≠</a:t>
            </a:r>
          </a:p>
        </p:txBody>
      </p:sp>
      <p:sp>
        <p:nvSpPr>
          <p:cNvPr id="261" name="Rectangle 260"/>
          <p:cNvSpPr/>
          <p:nvPr/>
        </p:nvSpPr>
        <p:spPr>
          <a:xfrm>
            <a:off x="3931920" y="5001768"/>
            <a:ext cx="201168" cy="73152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2" name="TextBox 261"/>
          <p:cNvSpPr txBox="1"/>
          <p:nvPr/>
        </p:nvSpPr>
        <p:spPr>
          <a:xfrm>
            <a:off x="4178808" y="4937760"/>
            <a:ext cx="128016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Arial"/>
              </a:rPr>
              <a:t>consistent</a:t>
            </a:r>
          </a:p>
        </p:txBody>
      </p:sp>
      <p:sp>
        <p:nvSpPr>
          <p:cNvPr id="263" name="Rectangle 262"/>
          <p:cNvSpPr/>
          <p:nvPr/>
        </p:nvSpPr>
        <p:spPr>
          <a:xfrm>
            <a:off x="5413248" y="5001768"/>
            <a:ext cx="201168" cy="7315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4" name="TextBox 263"/>
          <p:cNvSpPr txBox="1"/>
          <p:nvPr/>
        </p:nvSpPr>
        <p:spPr>
          <a:xfrm>
            <a:off x="5660136" y="4937760"/>
            <a:ext cx="128016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Arial"/>
              </a:rPr>
              <a:t>contradiction → flag</a:t>
            </a:r>
          </a:p>
        </p:txBody>
      </p:sp>
      <p:sp>
        <p:nvSpPr>
          <p:cNvPr id="265" name="Rectangle 264"/>
          <p:cNvSpPr/>
          <p:nvPr/>
        </p:nvSpPr>
        <p:spPr>
          <a:xfrm>
            <a:off x="6894576" y="5001768"/>
            <a:ext cx="201168" cy="73152"/>
          </a:xfrm>
          <a:prstGeom prst="rect">
            <a:avLst/>
          </a:prstGeom>
          <a:solidFill>
            <a:srgbClr val="D9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6" name="TextBox 265"/>
          <p:cNvSpPr txBox="1"/>
          <p:nvPr/>
        </p:nvSpPr>
        <p:spPr>
          <a:xfrm>
            <a:off x="7141464" y="4937760"/>
            <a:ext cx="128016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Arial"/>
              </a:rPr>
              <a:t>mismatch → review</a:t>
            </a:r>
          </a:p>
        </p:txBody>
      </p:sp>
      <p:pic>
        <p:nvPicPr>
          <p:cNvPr id="267" name="Picture 266" descr="FaFlask_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94760" y="5257800"/>
            <a:ext cx="219456" cy="219456"/>
          </a:xfrm>
          <a:prstGeom prst="rect">
            <a:avLst/>
          </a:prstGeom>
        </p:spPr>
      </p:pic>
      <p:sp>
        <p:nvSpPr>
          <p:cNvPr id="268" name="TextBox 267"/>
          <p:cNvSpPr txBox="1"/>
          <p:nvPr/>
        </p:nvSpPr>
        <p:spPr>
          <a:xfrm>
            <a:off x="4069080" y="5230368"/>
            <a:ext cx="4343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E8772E"/>
                </a:solidFill>
                <a:latin typeface="Arial"/>
              </a:rPr>
              <a:t>Innovation &amp; uniqueness</a:t>
            </a:r>
          </a:p>
        </p:txBody>
      </p:sp>
      <p:sp>
        <p:nvSpPr>
          <p:cNvPr id="269" name="Rounded Rectangle 268"/>
          <p:cNvSpPr/>
          <p:nvPr/>
        </p:nvSpPr>
        <p:spPr>
          <a:xfrm>
            <a:off x="3794760" y="5550408"/>
            <a:ext cx="1490472" cy="713232"/>
          </a:xfrm>
          <a:prstGeom prst="roundRect">
            <a:avLst>
              <a:gd name="adj" fmla="val 12820"/>
            </a:avLst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0" name="TextBox 269"/>
          <p:cNvSpPr txBox="1"/>
          <p:nvPr/>
        </p:nvSpPr>
        <p:spPr>
          <a:xfrm>
            <a:off x="3840480" y="5577840"/>
            <a:ext cx="1417320" cy="65836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900" b="1" i="0">
                <a:solidFill>
                  <a:srgbClr val="E8772E"/>
                </a:solidFill>
                <a:latin typeface="Arial"/>
              </a:rPr>
              <a:t>Whole-dossier checks</a:t>
            </a:r>
          </a:p>
          <a:p>
            <a:pPr algn="ctr"/>
            <a:r>
              <a:rPr sz="900" b="0" i="0">
                <a:solidFill>
                  <a:srgbClr val="1F2937"/>
                </a:solidFill>
                <a:latin typeface="Arial"/>
              </a:rPr>
              <a:t>not single-document KYC</a:t>
            </a:r>
          </a:p>
        </p:txBody>
      </p:sp>
      <p:sp>
        <p:nvSpPr>
          <p:cNvPr id="271" name="Rounded Rectangle 270"/>
          <p:cNvSpPr/>
          <p:nvPr/>
        </p:nvSpPr>
        <p:spPr>
          <a:xfrm>
            <a:off x="5349240" y="5550408"/>
            <a:ext cx="1490472" cy="713232"/>
          </a:xfrm>
          <a:prstGeom prst="roundRect">
            <a:avLst>
              <a:gd name="adj" fmla="val 12820"/>
            </a:avLst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2" name="TextBox 271"/>
          <p:cNvSpPr txBox="1"/>
          <p:nvPr/>
        </p:nvSpPr>
        <p:spPr>
          <a:xfrm>
            <a:off x="5394960" y="5577840"/>
            <a:ext cx="1417320" cy="65836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900" b="1" i="0">
                <a:solidFill>
                  <a:srgbClr val="E8772E"/>
                </a:solidFill>
                <a:latin typeface="Arial"/>
              </a:rPr>
              <a:t>Measured accuracy</a:t>
            </a:r>
          </a:p>
          <a:p>
            <a:pPr algn="ctr"/>
            <a:r>
              <a:rPr sz="900" b="0" i="0">
                <a:solidFill>
                  <a:srgbClr val="1F2937"/>
                </a:solidFill>
                <a:latin typeface="Arial"/>
              </a:rPr>
              <a:t>on an open, labelled benchmark</a:t>
            </a:r>
          </a:p>
        </p:txBody>
      </p:sp>
      <p:sp>
        <p:nvSpPr>
          <p:cNvPr id="273" name="Rounded Rectangle 272"/>
          <p:cNvSpPr/>
          <p:nvPr/>
        </p:nvSpPr>
        <p:spPr>
          <a:xfrm>
            <a:off x="6903720" y="5550408"/>
            <a:ext cx="1490472" cy="713232"/>
          </a:xfrm>
          <a:prstGeom prst="roundRect">
            <a:avLst>
              <a:gd name="adj" fmla="val 12820"/>
            </a:avLst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4" name="TextBox 273"/>
          <p:cNvSpPr txBox="1"/>
          <p:nvPr/>
        </p:nvSpPr>
        <p:spPr>
          <a:xfrm>
            <a:off x="6949440" y="5577840"/>
            <a:ext cx="1417320" cy="65836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900" b="1" i="0">
                <a:solidFill>
                  <a:srgbClr val="E8772E"/>
                </a:solidFill>
                <a:latin typeface="Arial"/>
              </a:rPr>
              <a:t>Rules as code</a:t>
            </a:r>
          </a:p>
          <a:p>
            <a:pPr algn="ctr"/>
            <a:r>
              <a:rPr sz="900" b="0" i="0">
                <a:solidFill>
                  <a:srgbClr val="1F2937"/>
                </a:solidFill>
                <a:latin typeface="Arial"/>
              </a:rPr>
              <a:t>AI advises, officer decides</a:t>
            </a:r>
          </a:p>
        </p:txBody>
      </p:sp>
      <p:pic>
        <p:nvPicPr>
          <p:cNvPr id="275" name="Picture 274" descr="FaListCheck_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49640" y="1892807"/>
            <a:ext cx="219456" cy="219456"/>
          </a:xfrm>
          <a:prstGeom prst="rect">
            <a:avLst/>
          </a:prstGeom>
        </p:spPr>
      </p:pic>
      <p:sp>
        <p:nvSpPr>
          <p:cNvPr id="276" name="TextBox 275"/>
          <p:cNvSpPr txBox="1"/>
          <p:nvPr/>
        </p:nvSpPr>
        <p:spPr>
          <a:xfrm>
            <a:off x="8823960" y="1865376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  <a:latin typeface="Arial"/>
              </a:rPr>
              <a:t>Solution Overview</a:t>
            </a:r>
          </a:p>
        </p:txBody>
      </p:sp>
      <p:sp>
        <p:nvSpPr>
          <p:cNvPr id="277" name="Rounded Rectangle 276"/>
          <p:cNvSpPr/>
          <p:nvPr/>
        </p:nvSpPr>
        <p:spPr>
          <a:xfrm>
            <a:off x="8549640" y="2212848"/>
            <a:ext cx="3383280" cy="941832"/>
          </a:xfrm>
          <a:prstGeom prst="roundRect">
            <a:avLst>
              <a:gd name="adj" fmla="val 11650"/>
            </a:avLst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8" name="Oval 277"/>
          <p:cNvSpPr/>
          <p:nvPr/>
        </p:nvSpPr>
        <p:spPr>
          <a:xfrm>
            <a:off x="8641080" y="2322576"/>
            <a:ext cx="384048" cy="384048"/>
          </a:xfrm>
          <a:prstGeom prst="ellipse">
            <a:avLst/>
          </a:prstGeom>
          <a:solidFill>
            <a:srgbClr val="1F5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279" name="Picture 278" descr="FaFileSignature_w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25570" y="2407066"/>
            <a:ext cx="215066" cy="215066"/>
          </a:xfrm>
          <a:prstGeom prst="rect">
            <a:avLst/>
          </a:prstGeom>
        </p:spPr>
      </p:pic>
      <p:sp>
        <p:nvSpPr>
          <p:cNvPr id="280" name="TextBox 279"/>
          <p:cNvSpPr txBox="1"/>
          <p:nvPr/>
        </p:nvSpPr>
        <p:spPr>
          <a:xfrm>
            <a:off x="9098280" y="2258568"/>
            <a:ext cx="2761488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50" b="1" i="0">
                <a:solidFill>
                  <a:srgbClr val="1B2A4A"/>
                </a:solidFill>
                <a:latin typeface="Arial"/>
              </a:rPr>
              <a:t>Verify first</a:t>
            </a:r>
          </a:p>
        </p:txBody>
      </p:sp>
      <p:sp>
        <p:nvSpPr>
          <p:cNvPr id="281" name="TextBox 280"/>
          <p:cNvSpPr txBox="1"/>
          <p:nvPr/>
        </p:nvSpPr>
        <p:spPr>
          <a:xfrm>
            <a:off x="9098280" y="2505456"/>
            <a:ext cx="2761488" cy="6400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Arial"/>
              </a:rPr>
              <a:t>Digital signatures (DSC), QR codes and DigiLocker records checked at the issuing source before any forensics.</a:t>
            </a:r>
          </a:p>
        </p:txBody>
      </p:sp>
      <p:sp>
        <p:nvSpPr>
          <p:cNvPr id="282" name="Rounded Rectangle 281"/>
          <p:cNvSpPr/>
          <p:nvPr/>
        </p:nvSpPr>
        <p:spPr>
          <a:xfrm>
            <a:off x="8549640" y="3227832"/>
            <a:ext cx="3383280" cy="941832"/>
          </a:xfrm>
          <a:prstGeom prst="roundRect">
            <a:avLst>
              <a:gd name="adj" fmla="val 11650"/>
            </a:avLst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3" name="Oval 282"/>
          <p:cNvSpPr/>
          <p:nvPr/>
        </p:nvSpPr>
        <p:spPr>
          <a:xfrm>
            <a:off x="8641080" y="3337560"/>
            <a:ext cx="384048" cy="384048"/>
          </a:xfrm>
          <a:prstGeom prst="ellipse">
            <a:avLst/>
          </a:prstGeom>
          <a:solidFill>
            <a:srgbClr val="E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284" name="Picture 283" descr="FaDiagramProject_w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725570" y="3422050"/>
            <a:ext cx="215066" cy="215066"/>
          </a:xfrm>
          <a:prstGeom prst="rect">
            <a:avLst/>
          </a:prstGeom>
        </p:spPr>
      </p:pic>
      <p:sp>
        <p:nvSpPr>
          <p:cNvPr id="285" name="TextBox 284"/>
          <p:cNvSpPr txBox="1"/>
          <p:nvPr/>
        </p:nvSpPr>
        <p:spPr>
          <a:xfrm>
            <a:off x="9098280" y="3273552"/>
            <a:ext cx="2761488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50" b="1" i="0">
                <a:solidFill>
                  <a:srgbClr val="E8772E"/>
                </a:solidFill>
                <a:latin typeface="Arial"/>
              </a:rPr>
              <a:t>Dossier graph + APH rules</a:t>
            </a:r>
          </a:p>
        </p:txBody>
      </p:sp>
      <p:sp>
        <p:nvSpPr>
          <p:cNvPr id="286" name="TextBox 285"/>
          <p:cNvSpPr txBox="1"/>
          <p:nvPr/>
        </p:nvSpPr>
        <p:spPr>
          <a:xfrm>
            <a:off x="9098280" y="3520440"/>
            <a:ext cx="2761488" cy="6400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Arial"/>
              </a:rPr>
              <a:t>Facts linked across documents; 20 versioned rules citing APH clauses (land, building, fire, faculty).</a:t>
            </a:r>
          </a:p>
        </p:txBody>
      </p:sp>
      <p:sp>
        <p:nvSpPr>
          <p:cNvPr id="287" name="Rounded Rectangle 286"/>
          <p:cNvSpPr/>
          <p:nvPr/>
        </p:nvSpPr>
        <p:spPr>
          <a:xfrm>
            <a:off x="8549640" y="4242816"/>
            <a:ext cx="3383280" cy="941832"/>
          </a:xfrm>
          <a:prstGeom prst="roundRect">
            <a:avLst>
              <a:gd name="adj" fmla="val 11650"/>
            </a:avLst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8" name="Oval 287"/>
          <p:cNvSpPr/>
          <p:nvPr/>
        </p:nvSpPr>
        <p:spPr>
          <a:xfrm>
            <a:off x="8641080" y="4352544"/>
            <a:ext cx="384048" cy="384048"/>
          </a:xfrm>
          <a:prstGeom prst="ellipse">
            <a:avLst/>
          </a:prstGeom>
          <a:solidFill>
            <a:srgbClr val="1F5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289" name="Picture 288" descr="FaMagnifyingGlass_w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725570" y="4437034"/>
            <a:ext cx="215066" cy="215066"/>
          </a:xfrm>
          <a:prstGeom prst="rect">
            <a:avLst/>
          </a:prstGeom>
        </p:spPr>
      </p:pic>
      <p:sp>
        <p:nvSpPr>
          <p:cNvPr id="290" name="TextBox 289"/>
          <p:cNvSpPr txBox="1"/>
          <p:nvPr/>
        </p:nvSpPr>
        <p:spPr>
          <a:xfrm>
            <a:off x="9098280" y="4288536"/>
            <a:ext cx="2761488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50" b="1" i="0">
                <a:solidFill>
                  <a:srgbClr val="1B2A4A"/>
                </a:solidFill>
                <a:latin typeface="Arial"/>
              </a:rPr>
              <a:t>Forensics only where needed</a:t>
            </a:r>
          </a:p>
        </p:txBody>
      </p:sp>
      <p:sp>
        <p:nvSpPr>
          <p:cNvPr id="291" name="TextBox 290"/>
          <p:cNvSpPr txBox="1"/>
          <p:nvPr/>
        </p:nvSpPr>
        <p:spPr>
          <a:xfrm>
            <a:off x="9098280" y="4535424"/>
            <a:ext cx="2761488" cy="6400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Arial"/>
              </a:rPr>
              <a:t>Unsigned scans get PDF-revision, metadata, ELA and photo-reuse checks, shown as advisory indicators.</a:t>
            </a:r>
          </a:p>
        </p:txBody>
      </p:sp>
      <p:sp>
        <p:nvSpPr>
          <p:cNvPr id="292" name="Rounded Rectangle 291"/>
          <p:cNvSpPr/>
          <p:nvPr/>
        </p:nvSpPr>
        <p:spPr>
          <a:xfrm>
            <a:off x="8549640" y="5257800"/>
            <a:ext cx="3383280" cy="941832"/>
          </a:xfrm>
          <a:prstGeom prst="roundRect">
            <a:avLst>
              <a:gd name="adj" fmla="val 11650"/>
            </a:avLst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3" name="Oval 292"/>
          <p:cNvSpPr/>
          <p:nvPr/>
        </p:nvSpPr>
        <p:spPr>
          <a:xfrm>
            <a:off x="8641080" y="5367528"/>
            <a:ext cx="384048" cy="384048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294" name="Picture 293" descr="FaUserShield_w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725570" y="5452018"/>
            <a:ext cx="215066" cy="215066"/>
          </a:xfrm>
          <a:prstGeom prst="rect">
            <a:avLst/>
          </a:prstGeom>
        </p:spPr>
      </p:pic>
      <p:sp>
        <p:nvSpPr>
          <p:cNvPr id="295" name="TextBox 294"/>
          <p:cNvSpPr txBox="1"/>
          <p:nvPr/>
        </p:nvSpPr>
        <p:spPr>
          <a:xfrm>
            <a:off x="9098280" y="5303520"/>
            <a:ext cx="2761488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50" b="1" i="0">
                <a:solidFill>
                  <a:srgbClr val="2E8B57"/>
                </a:solidFill>
                <a:latin typeface="Arial"/>
              </a:rPr>
              <a:t>Officer workstation + trust layer</a:t>
            </a:r>
          </a:p>
        </p:txBody>
      </p:sp>
      <p:sp>
        <p:nvSpPr>
          <p:cNvPr id="296" name="TextBox 295"/>
          <p:cNvSpPr txBox="1"/>
          <p:nvPr/>
        </p:nvSpPr>
        <p:spPr>
          <a:xfrm>
            <a:off x="9098280" y="5550408"/>
            <a:ext cx="2761488" cy="6400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Arial"/>
              </a:rPr>
              <a:t>Evidence viewer, 6 verification statuses, 2-officer rule for adverse outcomes, tamper-evident log.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7"/>
          <p:cNvSpPr/>
          <p:nvPr/>
        </p:nvSpPr>
        <p:spPr>
          <a:xfrm>
            <a:off x="0" y="6354762"/>
            <a:ext cx="12192000" cy="5031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7"/>
          <p:cNvSpPr txBox="1"/>
          <p:nvPr/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TECHNICAL APPROACH</a:t>
            </a:r>
            <a:endParaRPr sz="4400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05" name="Google Shape;205;p27"/>
          <p:cNvSpPr txBox="1"/>
          <p:nvPr/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1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3</a:t>
            </a:fld>
            <a:endParaRPr sz="1200" b="1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06" name="Google Shape;206;p27"/>
          <p:cNvSpPr txBox="1"/>
          <p:nvPr/>
        </p:nvSpPr>
        <p:spPr>
          <a:xfrm>
            <a:off x="4648200" y="6356353"/>
            <a:ext cx="320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</a:t>
            </a:r>
            <a:endParaRPr sz="12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07" name="Google Shape;207;p27" descr="Your startup LOGO"/>
          <p:cNvSpPr/>
          <p:nvPr/>
        </p:nvSpPr>
        <p:spPr>
          <a:xfrm>
            <a:off x="302423" y="88046"/>
            <a:ext cx="1251900" cy="807300"/>
          </a:xfrm>
          <a:prstGeom prst="ellipse">
            <a:avLst/>
          </a:prstGeom>
          <a:solidFill>
            <a:srgbClr val="FFFFFF"/>
          </a:solidFill>
          <a:ln w="25400" cap="flat" cmpd="sng">
            <a:solidFill>
              <a:srgbClr val="8064A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Citadel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8" name="Google Shape;20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58404" y="16423"/>
            <a:ext cx="2113821" cy="990251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27"/>
          <p:cNvSpPr txBox="1"/>
          <p:nvPr/>
        </p:nvSpPr>
        <p:spPr>
          <a:xfrm>
            <a:off x="2173701" y="6004870"/>
            <a:ext cx="146700" cy="1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4483C"/>
              </a:buClr>
              <a:buSzPts val="1070"/>
              <a:buFont typeface="Arial"/>
              <a:buNone/>
            </a:pPr>
            <a:r>
              <a:rPr lang="en-US" sz="1070" b="1" i="0" u="none" strike="noStrike" cap="none">
                <a:solidFill>
                  <a:srgbClr val="B4483C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07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7"/>
          <p:cNvSpPr txBox="1"/>
          <p:nvPr/>
        </p:nvSpPr>
        <p:spPr>
          <a:xfrm>
            <a:off x="3904664" y="6004870"/>
            <a:ext cx="146700" cy="1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4483C"/>
              </a:buClr>
              <a:buSzPts val="1070"/>
              <a:buFont typeface="Arial"/>
              <a:buNone/>
            </a:pPr>
            <a:r>
              <a:rPr lang="en-US" sz="1070" b="1" i="0" u="none" strike="noStrike" cap="none">
                <a:solidFill>
                  <a:srgbClr val="B4483C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07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27"/>
          <p:cNvSpPr txBox="1"/>
          <p:nvPr/>
        </p:nvSpPr>
        <p:spPr>
          <a:xfrm>
            <a:off x="5635627" y="6004870"/>
            <a:ext cx="146700" cy="1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4483C"/>
              </a:buClr>
              <a:buSzPts val="1070"/>
              <a:buFont typeface="Arial"/>
              <a:buNone/>
            </a:pPr>
            <a:r>
              <a:rPr lang="en-US" sz="1070" b="1" i="0" u="none" strike="noStrike" cap="none">
                <a:solidFill>
                  <a:srgbClr val="B4483C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07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27"/>
          <p:cNvSpPr txBox="1"/>
          <p:nvPr/>
        </p:nvSpPr>
        <p:spPr>
          <a:xfrm>
            <a:off x="7366590" y="6004870"/>
            <a:ext cx="146700" cy="1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4483C"/>
              </a:buClr>
              <a:buSzPts val="1070"/>
              <a:buFont typeface="Arial"/>
              <a:buNone/>
            </a:pPr>
            <a:r>
              <a:rPr lang="en-US" sz="1070" b="1" i="0" u="none" strike="noStrike" cap="none">
                <a:solidFill>
                  <a:srgbClr val="B4483C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07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7"/>
          <p:cNvSpPr txBox="1"/>
          <p:nvPr/>
        </p:nvSpPr>
        <p:spPr>
          <a:xfrm>
            <a:off x="9097553" y="6004870"/>
            <a:ext cx="146700" cy="1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4483C"/>
              </a:buClr>
              <a:buSzPts val="1070"/>
              <a:buFont typeface="Arial"/>
              <a:buNone/>
            </a:pPr>
            <a:r>
              <a:rPr lang="en-US" sz="1070" b="1" i="0" u="none" strike="noStrike" cap="none">
                <a:solidFill>
                  <a:srgbClr val="B4483C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07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27"/>
          <p:cNvSpPr txBox="1"/>
          <p:nvPr/>
        </p:nvSpPr>
        <p:spPr>
          <a:xfrm>
            <a:off x="10828516" y="6004870"/>
            <a:ext cx="146700" cy="1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4483C"/>
              </a:buClr>
              <a:buSzPts val="1070"/>
              <a:buFont typeface="Arial"/>
              <a:buNone/>
            </a:pPr>
            <a:r>
              <a:rPr lang="en-US" sz="1070" b="1" i="0" u="none" strike="noStrike" cap="none">
                <a:solidFill>
                  <a:srgbClr val="B4483C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07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TextBox 391"/>
          <p:cNvSpPr txBox="1"/>
          <p:nvPr/>
        </p:nvSpPr>
        <p:spPr>
          <a:xfrm>
            <a:off x="274320" y="987552"/>
            <a:ext cx="118872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1B2A4A"/>
                </a:solidFill>
                <a:latin typeface="Arial"/>
              </a:rPr>
              <a:t>One dossier,</a:t>
            </a:r>
          </a:p>
          <a:p>
            <a:pPr algn="l"/>
            <a:r>
              <a:rPr sz="1000" b="1" i="0">
                <a:solidFill>
                  <a:srgbClr val="1B2A4A"/>
                </a:solidFill>
                <a:latin typeface="Arial"/>
              </a:rPr>
              <a:t>end to end</a:t>
            </a:r>
          </a:p>
        </p:txBody>
      </p:sp>
      <p:sp>
        <p:nvSpPr>
          <p:cNvPr id="393" name="Rounded Rectangle 392"/>
          <p:cNvSpPr/>
          <p:nvPr/>
        </p:nvSpPr>
        <p:spPr>
          <a:xfrm>
            <a:off x="1527048" y="987552"/>
            <a:ext cx="1700784" cy="411480"/>
          </a:xfrm>
          <a:prstGeom prst="roundRect">
            <a:avLst>
              <a:gd name="adj" fmla="val 17777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94" name="Picture 393" descr="FaFileArrowUp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8488" y="1060704"/>
            <a:ext cx="256032" cy="256032"/>
          </a:xfrm>
          <a:prstGeom prst="rect">
            <a:avLst/>
          </a:prstGeom>
        </p:spPr>
      </p:pic>
      <p:sp>
        <p:nvSpPr>
          <p:cNvPr id="395" name="TextBox 394"/>
          <p:cNvSpPr txBox="1"/>
          <p:nvPr/>
        </p:nvSpPr>
        <p:spPr>
          <a:xfrm>
            <a:off x="1901952" y="987552"/>
            <a:ext cx="9601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rial"/>
              </a:rPr>
              <a:t>Intake</a:t>
            </a:r>
          </a:p>
        </p:txBody>
      </p:sp>
      <p:sp>
        <p:nvSpPr>
          <p:cNvPr id="396" name="Oval 395"/>
          <p:cNvSpPr/>
          <p:nvPr/>
        </p:nvSpPr>
        <p:spPr>
          <a:xfrm>
            <a:off x="2816352" y="1033271"/>
            <a:ext cx="320040" cy="3200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97" name="TextBox 396"/>
          <p:cNvSpPr txBox="1"/>
          <p:nvPr/>
        </p:nvSpPr>
        <p:spPr>
          <a:xfrm>
            <a:off x="2816352" y="1033271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2E8B57"/>
                </a:solidFill>
                <a:latin typeface="Arial"/>
              </a:rPr>
              <a:t>1</a:t>
            </a:r>
          </a:p>
        </p:txBody>
      </p:sp>
      <p:sp>
        <p:nvSpPr>
          <p:cNvPr id="398" name="Rounded Rectangle 397"/>
          <p:cNvSpPr/>
          <p:nvPr/>
        </p:nvSpPr>
        <p:spPr>
          <a:xfrm>
            <a:off x="3264408" y="987552"/>
            <a:ext cx="1700784" cy="411480"/>
          </a:xfrm>
          <a:prstGeom prst="roundRect">
            <a:avLst>
              <a:gd name="adj" fmla="val 17777"/>
            </a:avLst>
          </a:prstGeom>
          <a:solidFill>
            <a:srgbClr val="1F5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99" name="Picture 398" descr="FaFileLines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5848" y="1060704"/>
            <a:ext cx="256032" cy="256032"/>
          </a:xfrm>
          <a:prstGeom prst="rect">
            <a:avLst/>
          </a:prstGeom>
        </p:spPr>
      </p:pic>
      <p:sp>
        <p:nvSpPr>
          <p:cNvPr id="400" name="TextBox 399"/>
          <p:cNvSpPr txBox="1"/>
          <p:nvPr/>
        </p:nvSpPr>
        <p:spPr>
          <a:xfrm>
            <a:off x="3639312" y="987552"/>
            <a:ext cx="9601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rial"/>
              </a:rPr>
              <a:t>Extract</a:t>
            </a:r>
          </a:p>
        </p:txBody>
      </p:sp>
      <p:sp>
        <p:nvSpPr>
          <p:cNvPr id="401" name="Oval 400"/>
          <p:cNvSpPr/>
          <p:nvPr/>
        </p:nvSpPr>
        <p:spPr>
          <a:xfrm>
            <a:off x="4553712" y="1033271"/>
            <a:ext cx="320040" cy="3200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02" name="TextBox 401"/>
          <p:cNvSpPr txBox="1"/>
          <p:nvPr/>
        </p:nvSpPr>
        <p:spPr>
          <a:xfrm>
            <a:off x="4553712" y="1033271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F5FAD"/>
                </a:solidFill>
                <a:latin typeface="Arial"/>
              </a:rPr>
              <a:t>2</a:t>
            </a:r>
          </a:p>
        </p:txBody>
      </p:sp>
      <p:sp>
        <p:nvSpPr>
          <p:cNvPr id="403" name="Rounded Rectangle 402"/>
          <p:cNvSpPr/>
          <p:nvPr/>
        </p:nvSpPr>
        <p:spPr>
          <a:xfrm>
            <a:off x="5001768" y="987552"/>
            <a:ext cx="1700784" cy="411480"/>
          </a:xfrm>
          <a:prstGeom prst="roundRect">
            <a:avLst>
              <a:gd name="adj" fmla="val 17777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404" name="Picture 403" descr="FaFileSignature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93208" y="1060704"/>
            <a:ext cx="256032" cy="256032"/>
          </a:xfrm>
          <a:prstGeom prst="rect">
            <a:avLst/>
          </a:prstGeom>
        </p:spPr>
      </p:pic>
      <p:sp>
        <p:nvSpPr>
          <p:cNvPr id="405" name="TextBox 404"/>
          <p:cNvSpPr txBox="1"/>
          <p:nvPr/>
        </p:nvSpPr>
        <p:spPr>
          <a:xfrm>
            <a:off x="5376672" y="987552"/>
            <a:ext cx="9601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rial"/>
              </a:rPr>
              <a:t>Verify</a:t>
            </a:r>
          </a:p>
        </p:txBody>
      </p:sp>
      <p:sp>
        <p:nvSpPr>
          <p:cNvPr id="406" name="Oval 405"/>
          <p:cNvSpPr/>
          <p:nvPr/>
        </p:nvSpPr>
        <p:spPr>
          <a:xfrm>
            <a:off x="6291072" y="1033271"/>
            <a:ext cx="320040" cy="3200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07" name="TextBox 406"/>
          <p:cNvSpPr txBox="1"/>
          <p:nvPr/>
        </p:nvSpPr>
        <p:spPr>
          <a:xfrm>
            <a:off x="6291072" y="1033271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6A4C93"/>
                </a:solidFill>
                <a:latin typeface="Arial"/>
              </a:rPr>
              <a:t>3</a:t>
            </a:r>
          </a:p>
        </p:txBody>
      </p:sp>
      <p:sp>
        <p:nvSpPr>
          <p:cNvPr id="408" name="Rounded Rectangle 407"/>
          <p:cNvSpPr/>
          <p:nvPr/>
        </p:nvSpPr>
        <p:spPr>
          <a:xfrm>
            <a:off x="6739127" y="987552"/>
            <a:ext cx="1700784" cy="411480"/>
          </a:xfrm>
          <a:prstGeom prst="roundRect">
            <a:avLst>
              <a:gd name="adj" fmla="val 17777"/>
            </a:avLst>
          </a:prstGeom>
          <a:solidFill>
            <a:srgbClr val="E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409" name="Picture 408" descr="FaDiagramProject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30568" y="1060704"/>
            <a:ext cx="256032" cy="256032"/>
          </a:xfrm>
          <a:prstGeom prst="rect">
            <a:avLst/>
          </a:prstGeom>
        </p:spPr>
      </p:pic>
      <p:sp>
        <p:nvSpPr>
          <p:cNvPr id="410" name="TextBox 409"/>
          <p:cNvSpPr txBox="1"/>
          <p:nvPr/>
        </p:nvSpPr>
        <p:spPr>
          <a:xfrm>
            <a:off x="7114031" y="987552"/>
            <a:ext cx="9601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rial"/>
              </a:rPr>
              <a:t>Cross-check</a:t>
            </a:r>
          </a:p>
        </p:txBody>
      </p:sp>
      <p:sp>
        <p:nvSpPr>
          <p:cNvPr id="411" name="Oval 410"/>
          <p:cNvSpPr/>
          <p:nvPr/>
        </p:nvSpPr>
        <p:spPr>
          <a:xfrm>
            <a:off x="8028431" y="1033271"/>
            <a:ext cx="320040" cy="3200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12" name="TextBox 411"/>
          <p:cNvSpPr txBox="1"/>
          <p:nvPr/>
        </p:nvSpPr>
        <p:spPr>
          <a:xfrm>
            <a:off x="8028431" y="1033271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E8772E"/>
                </a:solidFill>
                <a:latin typeface="Arial"/>
              </a:rPr>
              <a:t>4</a:t>
            </a:r>
          </a:p>
        </p:txBody>
      </p:sp>
      <p:sp>
        <p:nvSpPr>
          <p:cNvPr id="413" name="Rounded Rectangle 412"/>
          <p:cNvSpPr/>
          <p:nvPr/>
        </p:nvSpPr>
        <p:spPr>
          <a:xfrm>
            <a:off x="8476488" y="987552"/>
            <a:ext cx="1700784" cy="411480"/>
          </a:xfrm>
          <a:prstGeom prst="roundRect">
            <a:avLst>
              <a:gd name="adj" fmla="val 17777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414" name="Picture 413" descr="FaMagnifyingGlass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67928" y="1060704"/>
            <a:ext cx="256032" cy="256032"/>
          </a:xfrm>
          <a:prstGeom prst="rect">
            <a:avLst/>
          </a:prstGeom>
        </p:spPr>
      </p:pic>
      <p:sp>
        <p:nvSpPr>
          <p:cNvPr id="415" name="TextBox 414"/>
          <p:cNvSpPr txBox="1"/>
          <p:nvPr/>
        </p:nvSpPr>
        <p:spPr>
          <a:xfrm>
            <a:off x="8851392" y="987552"/>
            <a:ext cx="9601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rial"/>
              </a:rPr>
              <a:t>Forensics</a:t>
            </a:r>
          </a:p>
        </p:txBody>
      </p:sp>
      <p:sp>
        <p:nvSpPr>
          <p:cNvPr id="416" name="Oval 415"/>
          <p:cNvSpPr/>
          <p:nvPr/>
        </p:nvSpPr>
        <p:spPr>
          <a:xfrm>
            <a:off x="9765792" y="1033271"/>
            <a:ext cx="320040" cy="3200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17" name="TextBox 416"/>
          <p:cNvSpPr txBox="1"/>
          <p:nvPr/>
        </p:nvSpPr>
        <p:spPr>
          <a:xfrm>
            <a:off x="9765792" y="1033271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C0392B"/>
                </a:solidFill>
                <a:latin typeface="Arial"/>
              </a:rPr>
              <a:t>5</a:t>
            </a:r>
          </a:p>
        </p:txBody>
      </p:sp>
      <p:sp>
        <p:nvSpPr>
          <p:cNvPr id="418" name="Rounded Rectangle 417"/>
          <p:cNvSpPr/>
          <p:nvPr/>
        </p:nvSpPr>
        <p:spPr>
          <a:xfrm>
            <a:off x="10213848" y="987552"/>
            <a:ext cx="1700784" cy="411480"/>
          </a:xfrm>
          <a:prstGeom prst="roundRect">
            <a:avLst>
              <a:gd name="adj" fmla="val 17777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419" name="Picture 418" descr="FaUserCheck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05288" y="1060704"/>
            <a:ext cx="256032" cy="256032"/>
          </a:xfrm>
          <a:prstGeom prst="rect">
            <a:avLst/>
          </a:prstGeom>
        </p:spPr>
      </p:pic>
      <p:sp>
        <p:nvSpPr>
          <p:cNvPr id="420" name="TextBox 419"/>
          <p:cNvSpPr txBox="1"/>
          <p:nvPr/>
        </p:nvSpPr>
        <p:spPr>
          <a:xfrm>
            <a:off x="10588752" y="987552"/>
            <a:ext cx="9601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rial"/>
              </a:rPr>
              <a:t>Decide</a:t>
            </a:r>
          </a:p>
        </p:txBody>
      </p:sp>
      <p:sp>
        <p:nvSpPr>
          <p:cNvPr id="421" name="Oval 420"/>
          <p:cNvSpPr/>
          <p:nvPr/>
        </p:nvSpPr>
        <p:spPr>
          <a:xfrm>
            <a:off x="11503152" y="1033271"/>
            <a:ext cx="320040" cy="3200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22" name="TextBox 421"/>
          <p:cNvSpPr txBox="1"/>
          <p:nvPr/>
        </p:nvSpPr>
        <p:spPr>
          <a:xfrm>
            <a:off x="11503152" y="1033271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Arial"/>
              </a:rPr>
              <a:t>6</a:t>
            </a:r>
          </a:p>
        </p:txBody>
      </p:sp>
      <p:sp>
        <p:nvSpPr>
          <p:cNvPr id="423" name="Rounded Rectangle 422"/>
          <p:cNvSpPr/>
          <p:nvPr/>
        </p:nvSpPr>
        <p:spPr>
          <a:xfrm>
            <a:off x="274320" y="1463040"/>
            <a:ext cx="11658600" cy="566928"/>
          </a:xfrm>
          <a:prstGeom prst="roundRect">
            <a:avLst>
              <a:gd name="adj" fmla="val 9677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24" name="TextBox 423"/>
          <p:cNvSpPr txBox="1"/>
          <p:nvPr/>
        </p:nvSpPr>
        <p:spPr>
          <a:xfrm>
            <a:off x="320040" y="1463040"/>
            <a:ext cx="1188720" cy="56692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950" b="1" i="0">
                <a:solidFill>
                  <a:srgbClr val="1B2A4A"/>
                </a:solidFill>
                <a:latin typeface="Arial"/>
              </a:rPr>
              <a:t>What the officer sees</a:t>
            </a:r>
          </a:p>
        </p:txBody>
      </p:sp>
      <p:sp>
        <p:nvSpPr>
          <p:cNvPr id="425" name="TextBox 424"/>
          <p:cNvSpPr txBox="1"/>
          <p:nvPr/>
        </p:nvSpPr>
        <p:spPr>
          <a:xfrm>
            <a:off x="1554480" y="1463040"/>
            <a:ext cx="1645920" cy="56692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  <a:latin typeface="Arial"/>
              </a:rPr>
              <a:t>Drag-drop dossier; checklist ticks as each document is recognised</a:t>
            </a:r>
          </a:p>
        </p:txBody>
      </p:sp>
      <p:sp>
        <p:nvSpPr>
          <p:cNvPr id="426" name="TextBox 425"/>
          <p:cNvSpPr txBox="1"/>
          <p:nvPr/>
        </p:nvSpPr>
        <p:spPr>
          <a:xfrm>
            <a:off x="3291839" y="1463040"/>
            <a:ext cx="1645920" cy="56692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  <a:latin typeface="Arial"/>
              </a:rPr>
              <a:t>Extracted fields highlighted on the page; unsure OCR fields editable</a:t>
            </a:r>
          </a:p>
        </p:txBody>
      </p:sp>
      <p:sp>
        <p:nvSpPr>
          <p:cNvPr id="427" name="TextBox 426"/>
          <p:cNvSpPr txBox="1"/>
          <p:nvPr/>
        </p:nvSpPr>
        <p:spPr>
          <a:xfrm>
            <a:off x="5029200" y="1463040"/>
            <a:ext cx="1645920" cy="56692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  <a:latin typeface="Arial"/>
              </a:rPr>
              <a:t>Status chip per document: verified, mismatch, expired, pending…</a:t>
            </a:r>
          </a:p>
        </p:txBody>
      </p:sp>
      <p:sp>
        <p:nvSpPr>
          <p:cNvPr id="428" name="TextBox 427"/>
          <p:cNvSpPr txBox="1"/>
          <p:nvPr/>
        </p:nvSpPr>
        <p:spPr>
          <a:xfrm>
            <a:off x="6766559" y="1463040"/>
            <a:ext cx="1645920" cy="56692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  <a:latin typeface="Arial"/>
              </a:rPr>
              <a:t>Graph view: red edges mark contradictions between documents</a:t>
            </a:r>
          </a:p>
        </p:txBody>
      </p:sp>
      <p:sp>
        <p:nvSpPr>
          <p:cNvPr id="429" name="TextBox 428"/>
          <p:cNvSpPr txBox="1"/>
          <p:nvPr/>
        </p:nvSpPr>
        <p:spPr>
          <a:xfrm>
            <a:off x="8503920" y="1463040"/>
            <a:ext cx="1645920" cy="56692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  <a:latin typeface="Arial"/>
              </a:rPr>
              <a:t>Heat-map on suspicious regions, labelled "indicator"</a:t>
            </a:r>
          </a:p>
        </p:txBody>
      </p:sp>
      <p:sp>
        <p:nvSpPr>
          <p:cNvPr id="430" name="TextBox 429"/>
          <p:cNvSpPr txBox="1"/>
          <p:nvPr/>
        </p:nvSpPr>
        <p:spPr>
          <a:xfrm>
            <a:off x="10241280" y="1463040"/>
            <a:ext cx="1645920" cy="56692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  <a:latin typeface="Arial"/>
              </a:rPr>
              <a:t>Severity-ranked queue: accept, override with reason, escalate</a:t>
            </a:r>
          </a:p>
        </p:txBody>
      </p:sp>
      <p:sp>
        <p:nvSpPr>
          <p:cNvPr id="431" name="TextBox 430"/>
          <p:cNvSpPr txBox="1"/>
          <p:nvPr/>
        </p:nvSpPr>
        <p:spPr>
          <a:xfrm>
            <a:off x="320040" y="2103120"/>
            <a:ext cx="1188720" cy="77724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950" b="1" i="0">
                <a:solidFill>
                  <a:srgbClr val="1B2A4A"/>
                </a:solidFill>
                <a:latin typeface="Arial"/>
              </a:rPr>
              <a:t>What the system does, and its call</a:t>
            </a:r>
          </a:p>
        </p:txBody>
      </p:sp>
      <p:sp>
        <p:nvSpPr>
          <p:cNvPr id="432" name="Rounded Rectangle 431"/>
          <p:cNvSpPr/>
          <p:nvPr/>
        </p:nvSpPr>
        <p:spPr>
          <a:xfrm>
            <a:off x="1545336" y="2103120"/>
            <a:ext cx="1664208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905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33" name="TextBox 432"/>
          <p:cNvSpPr txBox="1"/>
          <p:nvPr/>
        </p:nvSpPr>
        <p:spPr>
          <a:xfrm>
            <a:off x="1563624" y="2103120"/>
            <a:ext cx="1627632" cy="51206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  <a:latin typeface="Arial"/>
              </a:rPr>
              <a:t>Virus scan, PDF disarm &amp; rebuild, per-document encryption</a:t>
            </a:r>
          </a:p>
        </p:txBody>
      </p:sp>
      <p:sp>
        <p:nvSpPr>
          <p:cNvPr id="434" name="Rounded Rectangle 433"/>
          <p:cNvSpPr/>
          <p:nvPr/>
        </p:nvSpPr>
        <p:spPr>
          <a:xfrm>
            <a:off x="1545336" y="2651760"/>
            <a:ext cx="1664208" cy="219456"/>
          </a:xfrm>
          <a:prstGeom prst="roundRect">
            <a:avLst>
              <a:gd name="adj" fmla="val 16666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35" name="TextBox 434"/>
          <p:cNvSpPr txBox="1"/>
          <p:nvPr/>
        </p:nvSpPr>
        <p:spPr>
          <a:xfrm>
            <a:off x="1545336" y="2651760"/>
            <a:ext cx="1664208" cy="21945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800" b="1" i="0">
                <a:solidFill>
                  <a:srgbClr val="2E8B57"/>
                </a:solidFill>
                <a:latin typeface="Courier New"/>
              </a:rPr>
              <a:t>intake.scan() → ClamAV</a:t>
            </a:r>
          </a:p>
        </p:txBody>
      </p:sp>
      <p:sp>
        <p:nvSpPr>
          <p:cNvPr id="436" name="Rounded Rectangle 435"/>
          <p:cNvSpPr/>
          <p:nvPr/>
        </p:nvSpPr>
        <p:spPr>
          <a:xfrm>
            <a:off x="3282696" y="2103120"/>
            <a:ext cx="1664208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9050">
            <a:solidFill>
              <a:srgbClr val="1F5F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37" name="TextBox 436"/>
          <p:cNvSpPr txBox="1"/>
          <p:nvPr/>
        </p:nvSpPr>
        <p:spPr>
          <a:xfrm>
            <a:off x="3300984" y="2103120"/>
            <a:ext cx="1627632" cy="51206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  <a:latin typeface="Arial"/>
              </a:rPr>
              <a:t>Classify 8 doc types; OCR; extract facts with page coordinates</a:t>
            </a:r>
          </a:p>
        </p:txBody>
      </p:sp>
      <p:sp>
        <p:nvSpPr>
          <p:cNvPr id="438" name="Rounded Rectangle 437"/>
          <p:cNvSpPr/>
          <p:nvPr/>
        </p:nvSpPr>
        <p:spPr>
          <a:xfrm>
            <a:off x="3282696" y="2651760"/>
            <a:ext cx="1664208" cy="219456"/>
          </a:xfrm>
          <a:prstGeom prst="roundRect">
            <a:avLst>
              <a:gd name="adj" fmla="val 16666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39" name="TextBox 438"/>
          <p:cNvSpPr txBox="1"/>
          <p:nvPr/>
        </p:nvSpPr>
        <p:spPr>
          <a:xfrm>
            <a:off x="3282696" y="2651760"/>
            <a:ext cx="1664208" cy="21945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800" b="1" i="0">
                <a:solidFill>
                  <a:srgbClr val="1F5FAD"/>
                </a:solidFill>
                <a:latin typeface="Courier New"/>
              </a:rPr>
              <a:t>extract() → PaddleOCR</a:t>
            </a:r>
          </a:p>
        </p:txBody>
      </p:sp>
      <p:sp>
        <p:nvSpPr>
          <p:cNvPr id="440" name="Rounded Rectangle 439"/>
          <p:cNvSpPr/>
          <p:nvPr/>
        </p:nvSpPr>
        <p:spPr>
          <a:xfrm>
            <a:off x="5020056" y="2103120"/>
            <a:ext cx="1664208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9050">
            <a:solidFill>
              <a:srgbClr val="6A4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41" name="TextBox 440"/>
          <p:cNvSpPr txBox="1"/>
          <p:nvPr/>
        </p:nvSpPr>
        <p:spPr>
          <a:xfrm>
            <a:off x="5038344" y="2103120"/>
            <a:ext cx="1627632" cy="51206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  <a:latin typeface="Arial"/>
              </a:rPr>
              <a:t>Validate DSC / QR; fetch the issuer's record and compare</a:t>
            </a:r>
          </a:p>
        </p:txBody>
      </p:sp>
      <p:sp>
        <p:nvSpPr>
          <p:cNvPr id="442" name="Rounded Rectangle 441"/>
          <p:cNvSpPr/>
          <p:nvPr/>
        </p:nvSpPr>
        <p:spPr>
          <a:xfrm>
            <a:off x="5020056" y="2651760"/>
            <a:ext cx="1664208" cy="219456"/>
          </a:xfrm>
          <a:prstGeom prst="roundRect">
            <a:avLst>
              <a:gd name="adj" fmla="val 16666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43" name="TextBox 442"/>
          <p:cNvSpPr txBox="1"/>
          <p:nvPr/>
        </p:nvSpPr>
        <p:spPr>
          <a:xfrm>
            <a:off x="5020056" y="2651760"/>
            <a:ext cx="1664208" cy="21945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800" b="1" i="0">
                <a:solidFill>
                  <a:srgbClr val="6A4C93"/>
                </a:solidFill>
                <a:latin typeface="Courier New"/>
              </a:rPr>
              <a:t>verify() → pyHanko</a:t>
            </a:r>
          </a:p>
        </p:txBody>
      </p:sp>
      <p:sp>
        <p:nvSpPr>
          <p:cNvPr id="444" name="Rounded Rectangle 443"/>
          <p:cNvSpPr/>
          <p:nvPr/>
        </p:nvSpPr>
        <p:spPr>
          <a:xfrm>
            <a:off x="6757416" y="2103120"/>
            <a:ext cx="1664208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9050">
            <a:solidFill>
              <a:srgbClr val="E87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45" name="TextBox 444"/>
          <p:cNvSpPr txBox="1"/>
          <p:nvPr/>
        </p:nvSpPr>
        <p:spPr>
          <a:xfrm>
            <a:off x="6775703" y="2103120"/>
            <a:ext cx="1627632" cy="51206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  <a:latin typeface="Arial"/>
              </a:rPr>
              <a:t>Link facts across documents; evaluate the APH rule pack</a:t>
            </a:r>
          </a:p>
        </p:txBody>
      </p:sp>
      <p:sp>
        <p:nvSpPr>
          <p:cNvPr id="446" name="Rounded Rectangle 445"/>
          <p:cNvSpPr/>
          <p:nvPr/>
        </p:nvSpPr>
        <p:spPr>
          <a:xfrm>
            <a:off x="6757416" y="2651760"/>
            <a:ext cx="1664208" cy="219456"/>
          </a:xfrm>
          <a:prstGeom prst="roundRect">
            <a:avLst>
              <a:gd name="adj" fmla="val 16666"/>
            </a:avLst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47" name="TextBox 446"/>
          <p:cNvSpPr txBox="1"/>
          <p:nvPr/>
        </p:nvSpPr>
        <p:spPr>
          <a:xfrm>
            <a:off x="6757416" y="2651760"/>
            <a:ext cx="1664208" cy="21945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800" b="1" i="0">
                <a:solidFill>
                  <a:srgbClr val="E8772E"/>
                </a:solidFill>
                <a:latin typeface="Courier New"/>
              </a:rPr>
              <a:t>rules.eval() → aph.yaml</a:t>
            </a:r>
          </a:p>
        </p:txBody>
      </p:sp>
      <p:sp>
        <p:nvSpPr>
          <p:cNvPr id="448" name="Rounded Rectangle 447"/>
          <p:cNvSpPr/>
          <p:nvPr/>
        </p:nvSpPr>
        <p:spPr>
          <a:xfrm>
            <a:off x="8494776" y="2103120"/>
            <a:ext cx="1664208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49" name="TextBox 448"/>
          <p:cNvSpPr txBox="1"/>
          <p:nvPr/>
        </p:nvSpPr>
        <p:spPr>
          <a:xfrm>
            <a:off x="8513064" y="2103120"/>
            <a:ext cx="1627632" cy="51206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  <a:latin typeface="Arial"/>
              </a:rPr>
              <a:t>PDF revisions + metadata, ELA, perceptual-hash photo reuse</a:t>
            </a:r>
          </a:p>
        </p:txBody>
      </p:sp>
      <p:sp>
        <p:nvSpPr>
          <p:cNvPr id="450" name="Rounded Rectangle 449"/>
          <p:cNvSpPr/>
          <p:nvPr/>
        </p:nvSpPr>
        <p:spPr>
          <a:xfrm>
            <a:off x="8494776" y="2651760"/>
            <a:ext cx="1664208" cy="219456"/>
          </a:xfrm>
          <a:prstGeom prst="roundRect">
            <a:avLst>
              <a:gd name="adj" fmla="val 16666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51" name="TextBox 450"/>
          <p:cNvSpPr txBox="1"/>
          <p:nvPr/>
        </p:nvSpPr>
        <p:spPr>
          <a:xfrm>
            <a:off x="8494776" y="2651760"/>
            <a:ext cx="1664208" cy="21945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800" b="1" i="0">
                <a:solidFill>
                  <a:srgbClr val="C0392B"/>
                </a:solidFill>
                <a:latin typeface="Courier New"/>
              </a:rPr>
              <a:t>forensics() → OpenCV</a:t>
            </a:r>
          </a:p>
        </p:txBody>
      </p:sp>
      <p:sp>
        <p:nvSpPr>
          <p:cNvPr id="452" name="Rounded Rectangle 451"/>
          <p:cNvSpPr/>
          <p:nvPr/>
        </p:nvSpPr>
        <p:spPr>
          <a:xfrm>
            <a:off x="10232136" y="2103120"/>
            <a:ext cx="1664208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905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53" name="TextBox 452"/>
          <p:cNvSpPr txBox="1"/>
          <p:nvPr/>
        </p:nvSpPr>
        <p:spPr>
          <a:xfrm>
            <a:off x="10250424" y="2103120"/>
            <a:ext cx="1627632" cy="51206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  <a:latin typeface="Arial"/>
              </a:rPr>
              <a:t>Write finding + evidence crop; append to hash-chained log</a:t>
            </a:r>
          </a:p>
        </p:txBody>
      </p:sp>
      <p:sp>
        <p:nvSpPr>
          <p:cNvPr id="454" name="Rounded Rectangle 453"/>
          <p:cNvSpPr/>
          <p:nvPr/>
        </p:nvSpPr>
        <p:spPr>
          <a:xfrm>
            <a:off x="10232136" y="2651760"/>
            <a:ext cx="1664208" cy="219456"/>
          </a:xfrm>
          <a:prstGeom prst="roundRect">
            <a:avLst>
              <a:gd name="adj" fmla="val 16666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55" name="TextBox 454"/>
          <p:cNvSpPr txBox="1"/>
          <p:nvPr/>
        </p:nvSpPr>
        <p:spPr>
          <a:xfrm>
            <a:off x="10232136" y="2651760"/>
            <a:ext cx="1664208" cy="21945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800" b="1" i="0">
                <a:solidFill>
                  <a:srgbClr val="1B2A4A"/>
                </a:solidFill>
                <a:latin typeface="Courier New"/>
              </a:rPr>
              <a:t>audit.append() → PG</a:t>
            </a:r>
          </a:p>
        </p:txBody>
      </p:sp>
      <p:sp>
        <p:nvSpPr>
          <p:cNvPr id="456" name="Rounded Rectangle 455"/>
          <p:cNvSpPr/>
          <p:nvPr/>
        </p:nvSpPr>
        <p:spPr>
          <a:xfrm>
            <a:off x="274320" y="2944368"/>
            <a:ext cx="11658600" cy="566928"/>
          </a:xfrm>
          <a:prstGeom prst="roundRect">
            <a:avLst>
              <a:gd name="adj" fmla="val 9677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57" name="TextBox 456"/>
          <p:cNvSpPr txBox="1"/>
          <p:nvPr/>
        </p:nvSpPr>
        <p:spPr>
          <a:xfrm>
            <a:off x="320040" y="2944368"/>
            <a:ext cx="1188720" cy="56692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950" b="1" i="0">
                <a:solidFill>
                  <a:srgbClr val="1B2A4A"/>
                </a:solidFill>
                <a:latin typeface="Arial"/>
              </a:rPr>
              <a:t>Model or store</a:t>
            </a:r>
          </a:p>
        </p:txBody>
      </p:sp>
      <p:pic>
        <p:nvPicPr>
          <p:cNvPr id="458" name="Picture 457" descr="SiMinio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81912" y="3017520"/>
            <a:ext cx="219456" cy="219456"/>
          </a:xfrm>
          <a:prstGeom prst="rect">
            <a:avLst/>
          </a:prstGeom>
        </p:spPr>
      </p:pic>
      <p:sp>
        <p:nvSpPr>
          <p:cNvPr id="459" name="TextBox 458"/>
          <p:cNvSpPr txBox="1"/>
          <p:nvPr/>
        </p:nvSpPr>
        <p:spPr>
          <a:xfrm>
            <a:off x="1837943" y="2990088"/>
            <a:ext cx="1371600" cy="2560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Arial"/>
              </a:rPr>
              <a:t>MinIO + Vault</a:t>
            </a:r>
          </a:p>
        </p:txBody>
      </p:sp>
      <p:sp>
        <p:nvSpPr>
          <p:cNvPr id="460" name="TextBox 459"/>
          <p:cNvSpPr txBox="1"/>
          <p:nvPr/>
        </p:nvSpPr>
        <p:spPr>
          <a:xfrm>
            <a:off x="1581912" y="3246120"/>
            <a:ext cx="1627632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Arial"/>
              </a:rPr>
              <a:t>encrypted object store, per-doc keys</a:t>
            </a:r>
          </a:p>
        </p:txBody>
      </p:sp>
      <p:pic>
        <p:nvPicPr>
          <p:cNvPr id="461" name="Picture 460" descr="SiPaddlepaddl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19272" y="3017520"/>
            <a:ext cx="219456" cy="219456"/>
          </a:xfrm>
          <a:prstGeom prst="rect">
            <a:avLst/>
          </a:prstGeom>
        </p:spPr>
      </p:pic>
      <p:sp>
        <p:nvSpPr>
          <p:cNvPr id="462" name="TextBox 461"/>
          <p:cNvSpPr txBox="1"/>
          <p:nvPr/>
        </p:nvSpPr>
        <p:spPr>
          <a:xfrm>
            <a:off x="3575303" y="2990088"/>
            <a:ext cx="1371600" cy="2560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Arial"/>
              </a:rPr>
              <a:t>PaddleOCR</a:t>
            </a:r>
          </a:p>
        </p:txBody>
      </p:sp>
      <p:sp>
        <p:nvSpPr>
          <p:cNvPr id="463" name="TextBox 462"/>
          <p:cNvSpPr txBox="1"/>
          <p:nvPr/>
        </p:nvSpPr>
        <p:spPr>
          <a:xfrm>
            <a:off x="3319272" y="3246120"/>
            <a:ext cx="1627632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Arial"/>
              </a:rPr>
              <a:t>English + Hindi, runs on-prem</a:t>
            </a:r>
          </a:p>
        </p:txBody>
      </p:sp>
      <p:pic>
        <p:nvPicPr>
          <p:cNvPr id="464" name="Picture 463" descr="FaFileSignature_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56632" y="3017520"/>
            <a:ext cx="219456" cy="219456"/>
          </a:xfrm>
          <a:prstGeom prst="rect">
            <a:avLst/>
          </a:prstGeom>
        </p:spPr>
      </p:pic>
      <p:sp>
        <p:nvSpPr>
          <p:cNvPr id="465" name="TextBox 464"/>
          <p:cNvSpPr txBox="1"/>
          <p:nvPr/>
        </p:nvSpPr>
        <p:spPr>
          <a:xfrm>
            <a:off x="5312664" y="2990088"/>
            <a:ext cx="1371600" cy="2560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Arial"/>
              </a:rPr>
              <a:t>pyHanko + adapters</a:t>
            </a:r>
          </a:p>
        </p:txBody>
      </p:sp>
      <p:sp>
        <p:nvSpPr>
          <p:cNvPr id="466" name="TextBox 465"/>
          <p:cNvSpPr txBox="1"/>
          <p:nvPr/>
        </p:nvSpPr>
        <p:spPr>
          <a:xfrm>
            <a:off x="5056632" y="3246120"/>
            <a:ext cx="1627632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Arial"/>
              </a:rPr>
              <a:t>DSC, QR, DigiLocker; mocks where no API</a:t>
            </a:r>
          </a:p>
        </p:txBody>
      </p:sp>
      <p:pic>
        <p:nvPicPr>
          <p:cNvPr id="467" name="Picture 466" descr="SiPostgresql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93992" y="3017520"/>
            <a:ext cx="219456" cy="219456"/>
          </a:xfrm>
          <a:prstGeom prst="rect">
            <a:avLst/>
          </a:prstGeom>
        </p:spPr>
      </p:pic>
      <p:sp>
        <p:nvSpPr>
          <p:cNvPr id="468" name="TextBox 467"/>
          <p:cNvSpPr txBox="1"/>
          <p:nvPr/>
        </p:nvSpPr>
        <p:spPr>
          <a:xfrm>
            <a:off x="7050024" y="2990088"/>
            <a:ext cx="1371600" cy="2560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Arial"/>
              </a:rPr>
              <a:t>Rule engine + PG</a:t>
            </a:r>
          </a:p>
        </p:txBody>
      </p:sp>
      <p:sp>
        <p:nvSpPr>
          <p:cNvPr id="469" name="TextBox 468"/>
          <p:cNvSpPr txBox="1"/>
          <p:nvPr/>
        </p:nvSpPr>
        <p:spPr>
          <a:xfrm>
            <a:off x="6793992" y="3246120"/>
            <a:ext cx="1627632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Arial"/>
              </a:rPr>
              <a:t>versioned YAML rules, 20 APH clauses</a:t>
            </a:r>
          </a:p>
        </p:txBody>
      </p:sp>
      <p:pic>
        <p:nvPicPr>
          <p:cNvPr id="470" name="Picture 469" descr="SiOpencv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531352" y="3017520"/>
            <a:ext cx="219456" cy="219456"/>
          </a:xfrm>
          <a:prstGeom prst="rect">
            <a:avLst/>
          </a:prstGeom>
        </p:spPr>
      </p:pic>
      <p:sp>
        <p:nvSpPr>
          <p:cNvPr id="471" name="TextBox 470"/>
          <p:cNvSpPr txBox="1"/>
          <p:nvPr/>
        </p:nvSpPr>
        <p:spPr>
          <a:xfrm>
            <a:off x="8787384" y="2990088"/>
            <a:ext cx="1371600" cy="2560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Arial"/>
              </a:rPr>
              <a:t>OpenCV + pikepdf</a:t>
            </a:r>
          </a:p>
        </p:txBody>
      </p:sp>
      <p:sp>
        <p:nvSpPr>
          <p:cNvPr id="472" name="TextBox 471"/>
          <p:cNvSpPr txBox="1"/>
          <p:nvPr/>
        </p:nvSpPr>
        <p:spPr>
          <a:xfrm>
            <a:off x="8531352" y="3246120"/>
            <a:ext cx="1627632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Arial"/>
              </a:rPr>
              <a:t>ELA, PDF structure, imagehash</a:t>
            </a:r>
          </a:p>
        </p:txBody>
      </p:sp>
      <p:pic>
        <p:nvPicPr>
          <p:cNvPr id="473" name="Picture 472" descr="SiNextdotjs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268712" y="3017520"/>
            <a:ext cx="219456" cy="219456"/>
          </a:xfrm>
          <a:prstGeom prst="rect">
            <a:avLst/>
          </a:prstGeom>
        </p:spPr>
      </p:pic>
      <p:sp>
        <p:nvSpPr>
          <p:cNvPr id="474" name="TextBox 473"/>
          <p:cNvSpPr txBox="1"/>
          <p:nvPr/>
        </p:nvSpPr>
        <p:spPr>
          <a:xfrm>
            <a:off x="10524744" y="2990088"/>
            <a:ext cx="1371600" cy="2560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900" b="1" i="0">
                <a:solidFill>
                  <a:srgbClr val="1B2A4A"/>
                </a:solidFill>
                <a:latin typeface="Arial"/>
              </a:rPr>
              <a:t>Next.js workstation</a:t>
            </a:r>
          </a:p>
        </p:txBody>
      </p:sp>
      <p:sp>
        <p:nvSpPr>
          <p:cNvPr id="475" name="TextBox 474"/>
          <p:cNvSpPr txBox="1"/>
          <p:nvPr/>
        </p:nvSpPr>
        <p:spPr>
          <a:xfrm>
            <a:off x="10268712" y="3246120"/>
            <a:ext cx="1627632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Arial"/>
              </a:rPr>
              <a:t>Keycloak MFA + OPA access rules</a:t>
            </a:r>
          </a:p>
        </p:txBody>
      </p:sp>
      <p:sp>
        <p:nvSpPr>
          <p:cNvPr id="476" name="TextBox 475"/>
          <p:cNvSpPr txBox="1"/>
          <p:nvPr/>
        </p:nvSpPr>
        <p:spPr>
          <a:xfrm>
            <a:off x="320040" y="3566160"/>
            <a:ext cx="1188720" cy="5029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950" b="1" i="0">
                <a:solidFill>
                  <a:srgbClr val="1B2A4A"/>
                </a:solidFill>
                <a:latin typeface="Arial"/>
              </a:rPr>
              <a:t>Output, and what's guaranteed</a:t>
            </a:r>
          </a:p>
        </p:txBody>
      </p:sp>
      <p:pic>
        <p:nvPicPr>
          <p:cNvPr id="477" name="Picture 476" descr="FaFileLines_n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581912" y="3602736"/>
            <a:ext cx="182880" cy="182880"/>
          </a:xfrm>
          <a:prstGeom prst="rect">
            <a:avLst/>
          </a:prstGeom>
        </p:spPr>
      </p:pic>
      <p:sp>
        <p:nvSpPr>
          <p:cNvPr id="478" name="TextBox 477"/>
          <p:cNvSpPr txBox="1"/>
          <p:nvPr/>
        </p:nvSpPr>
        <p:spPr>
          <a:xfrm>
            <a:off x="1801368" y="3566160"/>
            <a:ext cx="1408176" cy="2468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900" b="1" i="0">
                <a:solidFill>
                  <a:srgbClr val="1F2937"/>
                </a:solidFill>
                <a:latin typeface="Arial"/>
              </a:rPr>
              <a:t>dossier (encrypted)</a:t>
            </a:r>
          </a:p>
        </p:txBody>
      </p:sp>
      <p:pic>
        <p:nvPicPr>
          <p:cNvPr id="479" name="Picture 478" descr="FaLock_s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600200" y="3849624"/>
            <a:ext cx="146304" cy="146304"/>
          </a:xfrm>
          <a:prstGeom prst="rect">
            <a:avLst/>
          </a:prstGeom>
        </p:spPr>
      </p:pic>
      <p:sp>
        <p:nvSpPr>
          <p:cNvPr id="480" name="TextBox 479"/>
          <p:cNvSpPr txBox="1"/>
          <p:nvPr/>
        </p:nvSpPr>
        <p:spPr>
          <a:xfrm>
            <a:off x="1801368" y="3813048"/>
            <a:ext cx="1408176" cy="2468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800" b="1" i="0">
                <a:solidFill>
                  <a:srgbClr val="E8772E"/>
                </a:solidFill>
                <a:latin typeface="Arial"/>
              </a:rPr>
              <a:t>never leaves AICTE servers</a:t>
            </a:r>
          </a:p>
        </p:txBody>
      </p:sp>
      <p:pic>
        <p:nvPicPr>
          <p:cNvPr id="481" name="Picture 480" descr="FaFileLines_n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319272" y="3602736"/>
            <a:ext cx="182880" cy="182880"/>
          </a:xfrm>
          <a:prstGeom prst="rect">
            <a:avLst/>
          </a:prstGeom>
        </p:spPr>
      </p:pic>
      <p:sp>
        <p:nvSpPr>
          <p:cNvPr id="482" name="TextBox 481"/>
          <p:cNvSpPr txBox="1"/>
          <p:nvPr/>
        </p:nvSpPr>
        <p:spPr>
          <a:xfrm>
            <a:off x="3538727" y="3566160"/>
            <a:ext cx="1408176" cy="2468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900" b="1" i="0">
                <a:solidFill>
                  <a:srgbClr val="1F2937"/>
                </a:solidFill>
                <a:latin typeface="Arial"/>
              </a:rPr>
              <a:t>facts.json</a:t>
            </a:r>
          </a:p>
        </p:txBody>
      </p:sp>
      <p:pic>
        <p:nvPicPr>
          <p:cNvPr id="483" name="Picture 482" descr="FaLock_s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337560" y="3849624"/>
            <a:ext cx="146304" cy="146304"/>
          </a:xfrm>
          <a:prstGeom prst="rect">
            <a:avLst/>
          </a:prstGeom>
        </p:spPr>
      </p:pic>
      <p:sp>
        <p:nvSpPr>
          <p:cNvPr id="484" name="TextBox 483"/>
          <p:cNvSpPr txBox="1"/>
          <p:nvPr/>
        </p:nvSpPr>
        <p:spPr>
          <a:xfrm>
            <a:off x="3538727" y="3813048"/>
            <a:ext cx="1408176" cy="2468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800" b="1" i="0">
                <a:solidFill>
                  <a:srgbClr val="E8772E"/>
                </a:solidFill>
                <a:latin typeface="Arial"/>
              </a:rPr>
              <a:t>every value linked to its page</a:t>
            </a:r>
          </a:p>
        </p:txBody>
      </p:sp>
      <p:pic>
        <p:nvPicPr>
          <p:cNvPr id="485" name="Picture 484" descr="FaFileLines_n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056632" y="3602736"/>
            <a:ext cx="182880" cy="182880"/>
          </a:xfrm>
          <a:prstGeom prst="rect">
            <a:avLst/>
          </a:prstGeom>
        </p:spPr>
      </p:pic>
      <p:sp>
        <p:nvSpPr>
          <p:cNvPr id="486" name="TextBox 485"/>
          <p:cNvSpPr txBox="1"/>
          <p:nvPr/>
        </p:nvSpPr>
        <p:spPr>
          <a:xfrm>
            <a:off x="5276088" y="3566160"/>
            <a:ext cx="1408176" cy="2468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900" b="1" i="0">
                <a:solidFill>
                  <a:srgbClr val="1F2937"/>
                </a:solidFill>
                <a:latin typeface="Arial"/>
              </a:rPr>
              <a:t>status per document</a:t>
            </a:r>
          </a:p>
        </p:txBody>
      </p:sp>
      <p:pic>
        <p:nvPicPr>
          <p:cNvPr id="487" name="Picture 486" descr="FaLock_s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074920" y="3849624"/>
            <a:ext cx="146304" cy="146304"/>
          </a:xfrm>
          <a:prstGeom prst="rect">
            <a:avLst/>
          </a:prstGeom>
        </p:spPr>
      </p:pic>
      <p:sp>
        <p:nvSpPr>
          <p:cNvPr id="488" name="TextBox 487"/>
          <p:cNvSpPr txBox="1"/>
          <p:nvPr/>
        </p:nvSpPr>
        <p:spPr>
          <a:xfrm>
            <a:off x="5276088" y="3813048"/>
            <a:ext cx="1408176" cy="2468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800" b="1" i="0">
                <a:solidFill>
                  <a:srgbClr val="E8772E"/>
                </a:solidFill>
                <a:latin typeface="Arial"/>
              </a:rPr>
              <a:t>issuer data beats forensics</a:t>
            </a:r>
          </a:p>
        </p:txBody>
      </p:sp>
      <p:pic>
        <p:nvPicPr>
          <p:cNvPr id="489" name="Picture 488" descr="FaFileLines_n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793992" y="3602736"/>
            <a:ext cx="182880" cy="182880"/>
          </a:xfrm>
          <a:prstGeom prst="rect">
            <a:avLst/>
          </a:prstGeom>
        </p:spPr>
      </p:pic>
      <p:sp>
        <p:nvSpPr>
          <p:cNvPr id="490" name="TextBox 489"/>
          <p:cNvSpPr txBox="1"/>
          <p:nvPr/>
        </p:nvSpPr>
        <p:spPr>
          <a:xfrm>
            <a:off x="7013448" y="3566160"/>
            <a:ext cx="1408176" cy="2468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900" b="1" i="0">
                <a:solidFill>
                  <a:srgbClr val="1F2937"/>
                </a:solidFill>
                <a:latin typeface="Arial"/>
              </a:rPr>
              <a:t>findings + APH clause</a:t>
            </a:r>
          </a:p>
        </p:txBody>
      </p:sp>
      <p:pic>
        <p:nvPicPr>
          <p:cNvPr id="491" name="Picture 490" descr="FaLock_s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812279" y="3849624"/>
            <a:ext cx="146304" cy="146304"/>
          </a:xfrm>
          <a:prstGeom prst="rect">
            <a:avLst/>
          </a:prstGeom>
        </p:spPr>
      </p:pic>
      <p:sp>
        <p:nvSpPr>
          <p:cNvPr id="492" name="TextBox 491"/>
          <p:cNvSpPr txBox="1"/>
          <p:nvPr/>
        </p:nvSpPr>
        <p:spPr>
          <a:xfrm>
            <a:off x="7013448" y="3813048"/>
            <a:ext cx="1408176" cy="2468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800" b="1" i="0">
                <a:solidFill>
                  <a:srgbClr val="E8772E"/>
                </a:solidFill>
                <a:latin typeface="Arial"/>
              </a:rPr>
              <a:t>rule version frozen at submission</a:t>
            </a:r>
          </a:p>
        </p:txBody>
      </p:sp>
      <p:pic>
        <p:nvPicPr>
          <p:cNvPr id="493" name="Picture 492" descr="FaFileLines_n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531352" y="3602736"/>
            <a:ext cx="182880" cy="182880"/>
          </a:xfrm>
          <a:prstGeom prst="rect">
            <a:avLst/>
          </a:prstGeom>
        </p:spPr>
      </p:pic>
      <p:sp>
        <p:nvSpPr>
          <p:cNvPr id="494" name="TextBox 493"/>
          <p:cNvSpPr txBox="1"/>
          <p:nvPr/>
        </p:nvSpPr>
        <p:spPr>
          <a:xfrm>
            <a:off x="8750808" y="3566160"/>
            <a:ext cx="1408176" cy="2468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900" b="1" i="0">
                <a:solidFill>
                  <a:srgbClr val="1F2937"/>
                </a:solidFill>
                <a:latin typeface="Arial"/>
              </a:rPr>
              <a:t>advisory indicators</a:t>
            </a:r>
          </a:p>
        </p:txBody>
      </p:sp>
      <p:pic>
        <p:nvPicPr>
          <p:cNvPr id="495" name="Picture 494" descr="FaLock_s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549640" y="3849624"/>
            <a:ext cx="146304" cy="146304"/>
          </a:xfrm>
          <a:prstGeom prst="rect">
            <a:avLst/>
          </a:prstGeom>
        </p:spPr>
      </p:pic>
      <p:sp>
        <p:nvSpPr>
          <p:cNvPr id="496" name="TextBox 495"/>
          <p:cNvSpPr txBox="1"/>
          <p:nvPr/>
        </p:nvSpPr>
        <p:spPr>
          <a:xfrm>
            <a:off x="8750808" y="3813048"/>
            <a:ext cx="1408176" cy="2468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800" b="1" i="0">
                <a:solidFill>
                  <a:srgbClr val="E8772E"/>
                </a:solidFill>
                <a:latin typeface="Arial"/>
              </a:rPr>
              <a:t>never auto-rejects</a:t>
            </a:r>
          </a:p>
        </p:txBody>
      </p:sp>
      <p:pic>
        <p:nvPicPr>
          <p:cNvPr id="497" name="Picture 496" descr="FaFileLines_n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268712" y="3602736"/>
            <a:ext cx="182880" cy="182880"/>
          </a:xfrm>
          <a:prstGeom prst="rect">
            <a:avLst/>
          </a:prstGeom>
        </p:spPr>
      </p:pic>
      <p:sp>
        <p:nvSpPr>
          <p:cNvPr id="498" name="TextBox 497"/>
          <p:cNvSpPr txBox="1"/>
          <p:nvPr/>
        </p:nvSpPr>
        <p:spPr>
          <a:xfrm>
            <a:off x="10488168" y="3566160"/>
            <a:ext cx="1408176" cy="2468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900" b="1" i="0">
                <a:solidFill>
                  <a:srgbClr val="1F2937"/>
                </a:solidFill>
                <a:latin typeface="Arial"/>
              </a:rPr>
              <a:t>signed report + EVC list</a:t>
            </a:r>
          </a:p>
        </p:txBody>
      </p:sp>
      <p:pic>
        <p:nvPicPr>
          <p:cNvPr id="499" name="Picture 498" descr="FaLock_s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287000" y="3849624"/>
            <a:ext cx="146304" cy="146304"/>
          </a:xfrm>
          <a:prstGeom prst="rect">
            <a:avLst/>
          </a:prstGeom>
        </p:spPr>
      </p:pic>
      <p:sp>
        <p:nvSpPr>
          <p:cNvPr id="500" name="TextBox 499"/>
          <p:cNvSpPr txBox="1"/>
          <p:nvPr/>
        </p:nvSpPr>
        <p:spPr>
          <a:xfrm>
            <a:off x="10488168" y="3813048"/>
            <a:ext cx="1408176" cy="2468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800" b="1" i="0">
                <a:solidFill>
                  <a:srgbClr val="E8772E"/>
                </a:solidFill>
                <a:latin typeface="Arial"/>
              </a:rPr>
              <a:t>2nd officer for adverse outcomes</a:t>
            </a:r>
          </a:p>
        </p:txBody>
      </p:sp>
      <p:cxnSp>
        <p:nvCxnSpPr>
          <p:cNvPr id="501" name="Connector 500"/>
          <p:cNvCxnSpPr/>
          <p:nvPr/>
        </p:nvCxnSpPr>
        <p:spPr>
          <a:xfrm>
            <a:off x="3246120" y="1463040"/>
            <a:ext cx="0" cy="260604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2" name="Connector 501"/>
          <p:cNvCxnSpPr/>
          <p:nvPr/>
        </p:nvCxnSpPr>
        <p:spPr>
          <a:xfrm>
            <a:off x="4983480" y="1463040"/>
            <a:ext cx="0" cy="260604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3" name="Connector 502"/>
          <p:cNvCxnSpPr/>
          <p:nvPr/>
        </p:nvCxnSpPr>
        <p:spPr>
          <a:xfrm>
            <a:off x="6720840" y="1463040"/>
            <a:ext cx="0" cy="260604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4" name="Connector 503"/>
          <p:cNvCxnSpPr/>
          <p:nvPr/>
        </p:nvCxnSpPr>
        <p:spPr>
          <a:xfrm>
            <a:off x="8458200" y="1463040"/>
            <a:ext cx="0" cy="260604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5" name="Connector 504"/>
          <p:cNvCxnSpPr/>
          <p:nvPr/>
        </p:nvCxnSpPr>
        <p:spPr>
          <a:xfrm>
            <a:off x="10195560" y="1463040"/>
            <a:ext cx="0" cy="260604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06" name="Picture 505" descr="FaCodeBranch_s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74320" y="4187952"/>
            <a:ext cx="219456" cy="219456"/>
          </a:xfrm>
          <a:prstGeom prst="rect">
            <a:avLst/>
          </a:prstGeom>
        </p:spPr>
      </p:pic>
      <p:sp>
        <p:nvSpPr>
          <p:cNvPr id="507" name="TextBox 506"/>
          <p:cNvSpPr txBox="1"/>
          <p:nvPr/>
        </p:nvSpPr>
        <p:spPr>
          <a:xfrm>
            <a:off x="548640" y="416052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B2A4A"/>
                </a:solidFill>
                <a:latin typeface="Arial"/>
              </a:rPr>
              <a:t>Rules as code: a real APH 2024-27 clause</a:t>
            </a:r>
          </a:p>
        </p:txBody>
      </p:sp>
      <p:sp>
        <p:nvSpPr>
          <p:cNvPr id="508" name="Rounded Rectangle 507"/>
          <p:cNvSpPr/>
          <p:nvPr/>
        </p:nvSpPr>
        <p:spPr>
          <a:xfrm>
            <a:off x="274320" y="4462272"/>
            <a:ext cx="3840480" cy="1463040"/>
          </a:xfrm>
          <a:prstGeom prst="roundRect">
            <a:avLst>
              <a:gd name="adj" fmla="val 5000"/>
            </a:avLst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09" name="TextBox 508"/>
          <p:cNvSpPr txBox="1"/>
          <p:nvPr/>
        </p:nvSpPr>
        <p:spPr>
          <a:xfrm>
            <a:off x="365760" y="4507992"/>
            <a:ext cx="3703320" cy="13898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0" i="0">
                <a:solidFill>
                  <a:srgbClr val="F2A65A"/>
                </a:solidFill>
                <a:latin typeface="Courier New"/>
              </a:rPr>
              <a:t>rule_id</a:t>
            </a:r>
            <a:r>
              <a:rPr sz="850" b="0" i="0">
                <a:solidFill>
                  <a:srgbClr val="E5E7EB"/>
                </a:solidFill>
                <a:latin typeface="Courier New"/>
              </a:rPr>
              <a:t>: BLDG_FIRE</a:t>
            </a:r>
          </a:p>
          <a:p>
            <a:pPr algn="l">
              <a:spcAft>
                <a:spcPts val="100"/>
              </a:spcAft>
            </a:pPr>
            <a:r>
              <a:rPr sz="850" b="0" i="0">
                <a:solidFill>
                  <a:srgbClr val="F2A65A"/>
                </a:solidFill>
                <a:latin typeface="Courier New"/>
              </a:rPr>
              <a:t>aph_ref</a:t>
            </a:r>
            <a:r>
              <a:rPr sz="850" b="0" i="0">
                <a:solidFill>
                  <a:srgbClr val="E5E7EB"/>
                </a:solidFill>
                <a:latin typeface="Courier New"/>
              </a:rPr>
              <a:t>: "Cl. 6.17(i), Annexure-14"</a:t>
            </a:r>
          </a:p>
          <a:p>
            <a:pPr algn="l">
              <a:spcAft>
                <a:spcPts val="100"/>
              </a:spcAft>
            </a:pPr>
            <a:r>
              <a:rPr sz="850" b="0" i="0">
                <a:solidFill>
                  <a:srgbClr val="F2A65A"/>
                </a:solidFill>
                <a:latin typeface="Courier New"/>
              </a:rPr>
              <a:t>applies_to</a:t>
            </a:r>
            <a:r>
              <a:rPr sz="850" b="0" i="0">
                <a:solidFill>
                  <a:srgbClr val="E5E7EB"/>
                </a:solidFill>
                <a:latin typeface="Courier New"/>
              </a:rPr>
              <a:t>: [EoA, NEW_INSTITUTION]</a:t>
            </a:r>
          </a:p>
          <a:p>
            <a:pPr algn="l">
              <a:spcAft>
                <a:spcPts val="100"/>
              </a:spcAft>
            </a:pPr>
            <a:r>
              <a:rPr sz="850" b="0" i="0">
                <a:solidFill>
                  <a:srgbClr val="F2A65A"/>
                </a:solidFill>
                <a:latin typeface="Courier New"/>
              </a:rPr>
              <a:t>check</a:t>
            </a:r>
            <a:r>
              <a:rPr sz="850" b="0" i="0">
                <a:solidFill>
                  <a:srgbClr val="E5E7EB"/>
                </a:solidFill>
                <a:latin typeface="Courier New"/>
              </a:rPr>
              <a:t>: fire_cert.valid_until &gt;= ay_start</a:t>
            </a:r>
          </a:p>
          <a:p>
            <a:pPr algn="l">
              <a:spcAft>
                <a:spcPts val="100"/>
              </a:spcAft>
            </a:pPr>
            <a:r>
              <a:rPr sz="850" b="0" i="0">
                <a:solidFill>
                  <a:srgbClr val="E5E7EB"/>
                </a:solidFill>
                <a:latin typeface="Courier New"/>
              </a:rPr>
              <a:t>    and fire_cert.address ~ plan.address</a:t>
            </a:r>
          </a:p>
          <a:p>
            <a:pPr algn="l">
              <a:spcAft>
                <a:spcPts val="100"/>
              </a:spcAft>
            </a:pPr>
            <a:r>
              <a:rPr sz="850" b="0" i="0">
                <a:solidFill>
                  <a:srgbClr val="F2A65A"/>
                </a:solidFill>
                <a:latin typeface="Courier New"/>
              </a:rPr>
              <a:t>severity</a:t>
            </a:r>
            <a:r>
              <a:rPr sz="850" b="0" i="0">
                <a:solidFill>
                  <a:srgbClr val="E5E7EB"/>
                </a:solidFill>
                <a:latin typeface="Courier New"/>
              </a:rPr>
              <a:t>: high</a:t>
            </a:r>
          </a:p>
          <a:p>
            <a:pPr algn="l">
              <a:spcAft>
                <a:spcPts val="100"/>
              </a:spcAft>
            </a:pPr>
            <a:r>
              <a:rPr sz="850" b="0" i="0">
                <a:solidFill>
                  <a:srgbClr val="F2A65A"/>
                </a:solidFill>
                <a:latin typeface="Courier New"/>
              </a:rPr>
              <a:t>on_fail</a:t>
            </a:r>
            <a:r>
              <a:rPr sz="850" b="0" i="0">
                <a:solidFill>
                  <a:srgbClr val="E5E7EB"/>
                </a:solidFill>
                <a:latin typeface="Courier New"/>
              </a:rPr>
              <a:t>: "Upload valid Fire Safety Cert"</a:t>
            </a:r>
          </a:p>
        </p:txBody>
      </p:sp>
      <p:pic>
        <p:nvPicPr>
          <p:cNvPr id="510" name="Picture 509" descr="FaGears_s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251960" y="4187952"/>
            <a:ext cx="219456" cy="219456"/>
          </a:xfrm>
          <a:prstGeom prst="rect">
            <a:avLst/>
          </a:prstGeom>
        </p:spPr>
      </p:pic>
      <p:sp>
        <p:nvSpPr>
          <p:cNvPr id="511" name="TextBox 510"/>
          <p:cNvSpPr txBox="1"/>
          <p:nvPr/>
        </p:nvSpPr>
        <p:spPr>
          <a:xfrm>
            <a:off x="4526280" y="41605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B2A4A"/>
                </a:solidFill>
                <a:latin typeface="Arial"/>
              </a:rPr>
              <a:t>Technology stack (all on-prem)</a:t>
            </a:r>
          </a:p>
        </p:txBody>
      </p:sp>
      <p:sp>
        <p:nvSpPr>
          <p:cNvPr id="512" name="Rounded Rectangle 511"/>
          <p:cNvSpPr/>
          <p:nvPr/>
        </p:nvSpPr>
        <p:spPr>
          <a:xfrm>
            <a:off x="4251960" y="4462272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513" name="Picture 512" descr="SiNextdotjs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434840" y="4544568"/>
            <a:ext cx="292608" cy="292608"/>
          </a:xfrm>
          <a:prstGeom prst="rect">
            <a:avLst/>
          </a:prstGeom>
        </p:spPr>
      </p:pic>
      <p:sp>
        <p:nvSpPr>
          <p:cNvPr id="514" name="TextBox 513"/>
          <p:cNvSpPr txBox="1"/>
          <p:nvPr/>
        </p:nvSpPr>
        <p:spPr>
          <a:xfrm>
            <a:off x="4297680" y="487375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 b="1" i="0">
                <a:solidFill>
                  <a:srgbClr val="1F2937"/>
                </a:solidFill>
                <a:latin typeface="Arial"/>
              </a:rPr>
              <a:t>Next.js</a:t>
            </a:r>
          </a:p>
        </p:txBody>
      </p:sp>
      <p:pic>
        <p:nvPicPr>
          <p:cNvPr id="515" name="Picture 514" descr="SiTailwindcss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910327" y="4544568"/>
            <a:ext cx="292608" cy="292608"/>
          </a:xfrm>
          <a:prstGeom prst="rect">
            <a:avLst/>
          </a:prstGeom>
        </p:spPr>
      </p:pic>
      <p:sp>
        <p:nvSpPr>
          <p:cNvPr id="516" name="TextBox 515"/>
          <p:cNvSpPr txBox="1"/>
          <p:nvPr/>
        </p:nvSpPr>
        <p:spPr>
          <a:xfrm>
            <a:off x="4773168" y="487375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 b="1" i="0">
                <a:solidFill>
                  <a:srgbClr val="1F2937"/>
                </a:solidFill>
                <a:latin typeface="Arial"/>
              </a:rPr>
              <a:t>Tailwind</a:t>
            </a:r>
          </a:p>
        </p:txBody>
      </p:sp>
      <p:pic>
        <p:nvPicPr>
          <p:cNvPr id="517" name="Picture 516" descr="SiFastapi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385816" y="4544568"/>
            <a:ext cx="292608" cy="292608"/>
          </a:xfrm>
          <a:prstGeom prst="rect">
            <a:avLst/>
          </a:prstGeom>
        </p:spPr>
      </p:pic>
      <p:sp>
        <p:nvSpPr>
          <p:cNvPr id="518" name="TextBox 517"/>
          <p:cNvSpPr txBox="1"/>
          <p:nvPr/>
        </p:nvSpPr>
        <p:spPr>
          <a:xfrm>
            <a:off x="5248656" y="487375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 b="1" i="0">
                <a:solidFill>
                  <a:srgbClr val="1F2937"/>
                </a:solidFill>
                <a:latin typeface="Arial"/>
              </a:rPr>
              <a:t>FastAPI</a:t>
            </a:r>
          </a:p>
        </p:txBody>
      </p:sp>
      <p:pic>
        <p:nvPicPr>
          <p:cNvPr id="519" name="Picture 518" descr="SiPython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861304" y="4544568"/>
            <a:ext cx="292608" cy="292608"/>
          </a:xfrm>
          <a:prstGeom prst="rect">
            <a:avLst/>
          </a:prstGeom>
        </p:spPr>
      </p:pic>
      <p:sp>
        <p:nvSpPr>
          <p:cNvPr id="520" name="TextBox 519"/>
          <p:cNvSpPr txBox="1"/>
          <p:nvPr/>
        </p:nvSpPr>
        <p:spPr>
          <a:xfrm>
            <a:off x="5724144" y="487375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 b="1" i="0">
                <a:solidFill>
                  <a:srgbClr val="1F2937"/>
                </a:solidFill>
                <a:latin typeface="Arial"/>
              </a:rPr>
              <a:t>Python</a:t>
            </a:r>
          </a:p>
        </p:txBody>
      </p:sp>
      <p:pic>
        <p:nvPicPr>
          <p:cNvPr id="521" name="Picture 520" descr="SiCelery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336792" y="4544568"/>
            <a:ext cx="292608" cy="292608"/>
          </a:xfrm>
          <a:prstGeom prst="rect">
            <a:avLst/>
          </a:prstGeom>
        </p:spPr>
      </p:pic>
      <p:sp>
        <p:nvSpPr>
          <p:cNvPr id="522" name="TextBox 521"/>
          <p:cNvSpPr txBox="1"/>
          <p:nvPr/>
        </p:nvSpPr>
        <p:spPr>
          <a:xfrm>
            <a:off x="6199632" y="487375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 b="1" i="0">
                <a:solidFill>
                  <a:srgbClr val="1F2937"/>
                </a:solidFill>
                <a:latin typeface="Arial"/>
              </a:rPr>
              <a:t>Celery</a:t>
            </a:r>
          </a:p>
        </p:txBody>
      </p:sp>
      <p:pic>
        <p:nvPicPr>
          <p:cNvPr id="523" name="Picture 522" descr="SiRedis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812279" y="4544568"/>
            <a:ext cx="292608" cy="292608"/>
          </a:xfrm>
          <a:prstGeom prst="rect">
            <a:avLst/>
          </a:prstGeom>
        </p:spPr>
      </p:pic>
      <p:sp>
        <p:nvSpPr>
          <p:cNvPr id="524" name="TextBox 523"/>
          <p:cNvSpPr txBox="1"/>
          <p:nvPr/>
        </p:nvSpPr>
        <p:spPr>
          <a:xfrm>
            <a:off x="6675120" y="487375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 b="1" i="0">
                <a:solidFill>
                  <a:srgbClr val="1F2937"/>
                </a:solidFill>
                <a:latin typeface="Arial"/>
              </a:rPr>
              <a:t>Redis</a:t>
            </a:r>
          </a:p>
        </p:txBody>
      </p:sp>
      <p:pic>
        <p:nvPicPr>
          <p:cNvPr id="525" name="Picture 524" descr="SiPostgresql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287768" y="4544568"/>
            <a:ext cx="292608" cy="292608"/>
          </a:xfrm>
          <a:prstGeom prst="rect">
            <a:avLst/>
          </a:prstGeom>
        </p:spPr>
      </p:pic>
      <p:sp>
        <p:nvSpPr>
          <p:cNvPr id="526" name="TextBox 525"/>
          <p:cNvSpPr txBox="1"/>
          <p:nvPr/>
        </p:nvSpPr>
        <p:spPr>
          <a:xfrm>
            <a:off x="7150608" y="487375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 b="1" i="0">
                <a:solidFill>
                  <a:srgbClr val="1F2937"/>
                </a:solidFill>
                <a:latin typeface="Arial"/>
              </a:rPr>
              <a:t>PostgreSQL</a:t>
            </a:r>
          </a:p>
        </p:txBody>
      </p:sp>
      <p:pic>
        <p:nvPicPr>
          <p:cNvPr id="527" name="Picture 526" descr="SiMinio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63256" y="4544568"/>
            <a:ext cx="292608" cy="292608"/>
          </a:xfrm>
          <a:prstGeom prst="rect">
            <a:avLst/>
          </a:prstGeom>
        </p:spPr>
      </p:pic>
      <p:sp>
        <p:nvSpPr>
          <p:cNvPr id="528" name="TextBox 527"/>
          <p:cNvSpPr txBox="1"/>
          <p:nvPr/>
        </p:nvSpPr>
        <p:spPr>
          <a:xfrm>
            <a:off x="7626096" y="487375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 b="1" i="0">
                <a:solidFill>
                  <a:srgbClr val="1F2937"/>
                </a:solidFill>
                <a:latin typeface="Arial"/>
              </a:rPr>
              <a:t>MinIO</a:t>
            </a:r>
          </a:p>
        </p:txBody>
      </p:sp>
      <p:pic>
        <p:nvPicPr>
          <p:cNvPr id="529" name="Picture 528" descr="SiPaddlepaddl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34840" y="5248656"/>
            <a:ext cx="292608" cy="292608"/>
          </a:xfrm>
          <a:prstGeom prst="rect">
            <a:avLst/>
          </a:prstGeom>
        </p:spPr>
      </p:pic>
      <p:sp>
        <p:nvSpPr>
          <p:cNvPr id="530" name="TextBox 529"/>
          <p:cNvSpPr txBox="1"/>
          <p:nvPr/>
        </p:nvSpPr>
        <p:spPr>
          <a:xfrm>
            <a:off x="4297680" y="5577840"/>
            <a:ext cx="56692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 b="1" i="0">
                <a:solidFill>
                  <a:srgbClr val="1F2937"/>
                </a:solidFill>
                <a:latin typeface="Arial"/>
              </a:rPr>
              <a:t>PaddleOCR</a:t>
            </a:r>
          </a:p>
        </p:txBody>
      </p:sp>
      <p:pic>
        <p:nvPicPr>
          <p:cNvPr id="531" name="Picture 530" descr="SiOpencv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910327" y="5248656"/>
            <a:ext cx="292608" cy="292608"/>
          </a:xfrm>
          <a:prstGeom prst="rect">
            <a:avLst/>
          </a:prstGeom>
        </p:spPr>
      </p:pic>
      <p:sp>
        <p:nvSpPr>
          <p:cNvPr id="532" name="TextBox 531"/>
          <p:cNvSpPr txBox="1"/>
          <p:nvPr/>
        </p:nvSpPr>
        <p:spPr>
          <a:xfrm>
            <a:off x="4773168" y="5577840"/>
            <a:ext cx="56692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 b="1" i="0">
                <a:solidFill>
                  <a:srgbClr val="1F2937"/>
                </a:solidFill>
                <a:latin typeface="Arial"/>
              </a:rPr>
              <a:t>OpenCV</a:t>
            </a:r>
          </a:p>
        </p:txBody>
      </p:sp>
      <p:pic>
        <p:nvPicPr>
          <p:cNvPr id="533" name="Picture 532" descr="SiKeycloak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385816" y="5248656"/>
            <a:ext cx="292608" cy="292608"/>
          </a:xfrm>
          <a:prstGeom prst="rect">
            <a:avLst/>
          </a:prstGeom>
        </p:spPr>
      </p:pic>
      <p:sp>
        <p:nvSpPr>
          <p:cNvPr id="534" name="TextBox 533"/>
          <p:cNvSpPr txBox="1"/>
          <p:nvPr/>
        </p:nvSpPr>
        <p:spPr>
          <a:xfrm>
            <a:off x="5248656" y="5577840"/>
            <a:ext cx="56692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 b="1" i="0">
                <a:solidFill>
                  <a:srgbClr val="1F2937"/>
                </a:solidFill>
                <a:latin typeface="Arial"/>
              </a:rPr>
              <a:t>Keycloak</a:t>
            </a:r>
          </a:p>
        </p:txBody>
      </p:sp>
      <p:pic>
        <p:nvPicPr>
          <p:cNvPr id="535" name="Picture 534" descr="SiVault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861304" y="5248656"/>
            <a:ext cx="292608" cy="292608"/>
          </a:xfrm>
          <a:prstGeom prst="rect">
            <a:avLst/>
          </a:prstGeom>
        </p:spPr>
      </p:pic>
      <p:sp>
        <p:nvSpPr>
          <p:cNvPr id="536" name="TextBox 535"/>
          <p:cNvSpPr txBox="1"/>
          <p:nvPr/>
        </p:nvSpPr>
        <p:spPr>
          <a:xfrm>
            <a:off x="5724144" y="5577840"/>
            <a:ext cx="56692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 b="1" i="0">
                <a:solidFill>
                  <a:srgbClr val="1F2937"/>
                </a:solidFill>
                <a:latin typeface="Arial"/>
              </a:rPr>
              <a:t>Vault</a:t>
            </a:r>
          </a:p>
        </p:txBody>
      </p:sp>
      <p:pic>
        <p:nvPicPr>
          <p:cNvPr id="537" name="Picture 536" descr="SiDocker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336792" y="5248656"/>
            <a:ext cx="292608" cy="292608"/>
          </a:xfrm>
          <a:prstGeom prst="rect">
            <a:avLst/>
          </a:prstGeom>
        </p:spPr>
      </p:pic>
      <p:sp>
        <p:nvSpPr>
          <p:cNvPr id="538" name="TextBox 537"/>
          <p:cNvSpPr txBox="1"/>
          <p:nvPr/>
        </p:nvSpPr>
        <p:spPr>
          <a:xfrm>
            <a:off x="6199632" y="5577840"/>
            <a:ext cx="56692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 b="1" i="0">
                <a:solidFill>
                  <a:srgbClr val="1F2937"/>
                </a:solidFill>
                <a:latin typeface="Arial"/>
              </a:rPr>
              <a:t>Docker</a:t>
            </a:r>
          </a:p>
        </p:txBody>
      </p:sp>
      <p:pic>
        <p:nvPicPr>
          <p:cNvPr id="539" name="Picture 538" descr="SiKubernetes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812279" y="5248656"/>
            <a:ext cx="292608" cy="292608"/>
          </a:xfrm>
          <a:prstGeom prst="rect">
            <a:avLst/>
          </a:prstGeom>
        </p:spPr>
      </p:pic>
      <p:sp>
        <p:nvSpPr>
          <p:cNvPr id="540" name="TextBox 539"/>
          <p:cNvSpPr txBox="1"/>
          <p:nvPr/>
        </p:nvSpPr>
        <p:spPr>
          <a:xfrm>
            <a:off x="6675120" y="5577840"/>
            <a:ext cx="56692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 b="1" i="0">
                <a:solidFill>
                  <a:srgbClr val="1F2937"/>
                </a:solidFill>
                <a:latin typeface="Arial"/>
              </a:rPr>
              <a:t>Kubernetes</a:t>
            </a:r>
          </a:p>
        </p:txBody>
      </p:sp>
      <p:pic>
        <p:nvPicPr>
          <p:cNvPr id="541" name="Picture 540" descr="FaFileSignature_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87768" y="5248656"/>
            <a:ext cx="292608" cy="292608"/>
          </a:xfrm>
          <a:prstGeom prst="rect">
            <a:avLst/>
          </a:prstGeom>
        </p:spPr>
      </p:pic>
      <p:sp>
        <p:nvSpPr>
          <p:cNvPr id="542" name="TextBox 541"/>
          <p:cNvSpPr txBox="1"/>
          <p:nvPr/>
        </p:nvSpPr>
        <p:spPr>
          <a:xfrm>
            <a:off x="7150608" y="5577840"/>
            <a:ext cx="56692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 b="1" i="0">
                <a:solidFill>
                  <a:srgbClr val="1F2937"/>
                </a:solidFill>
                <a:latin typeface="Arial"/>
              </a:rPr>
              <a:t>pyHanko</a:t>
            </a:r>
          </a:p>
        </p:txBody>
      </p:sp>
      <p:pic>
        <p:nvPicPr>
          <p:cNvPr id="543" name="Picture 542" descr="FaVirusSlash_n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763256" y="5248656"/>
            <a:ext cx="292608" cy="292608"/>
          </a:xfrm>
          <a:prstGeom prst="rect">
            <a:avLst/>
          </a:prstGeom>
        </p:spPr>
      </p:pic>
      <p:sp>
        <p:nvSpPr>
          <p:cNvPr id="544" name="TextBox 543"/>
          <p:cNvSpPr txBox="1"/>
          <p:nvPr/>
        </p:nvSpPr>
        <p:spPr>
          <a:xfrm>
            <a:off x="7626096" y="5577840"/>
            <a:ext cx="56692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 b="1" i="0">
                <a:solidFill>
                  <a:srgbClr val="1F2937"/>
                </a:solidFill>
                <a:latin typeface="Arial"/>
              </a:rPr>
              <a:t>ClamAV</a:t>
            </a:r>
          </a:p>
        </p:txBody>
      </p:sp>
      <p:pic>
        <p:nvPicPr>
          <p:cNvPr id="545" name="Picture 544" descr="FaRoute_s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321040" y="4187952"/>
            <a:ext cx="219456" cy="219456"/>
          </a:xfrm>
          <a:prstGeom prst="rect">
            <a:avLst/>
          </a:prstGeom>
        </p:spPr>
      </p:pic>
      <p:sp>
        <p:nvSpPr>
          <p:cNvPr id="546" name="TextBox 545"/>
          <p:cNvSpPr txBox="1"/>
          <p:nvPr/>
        </p:nvSpPr>
        <p:spPr>
          <a:xfrm>
            <a:off x="8595360" y="4160520"/>
            <a:ext cx="33375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B2A4A"/>
                </a:solidFill>
                <a:latin typeface="Arial"/>
              </a:rPr>
              <a:t>Verification decision logic</a:t>
            </a:r>
          </a:p>
        </p:txBody>
      </p:sp>
      <p:sp>
        <p:nvSpPr>
          <p:cNvPr id="547" name="Rounded Rectangle 546"/>
          <p:cNvSpPr/>
          <p:nvPr/>
        </p:nvSpPr>
        <p:spPr>
          <a:xfrm>
            <a:off x="8321040" y="4462272"/>
            <a:ext cx="36118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48" name="Rounded Rectangle 547"/>
          <p:cNvSpPr/>
          <p:nvPr/>
        </p:nvSpPr>
        <p:spPr>
          <a:xfrm>
            <a:off x="8394192" y="4553712"/>
            <a:ext cx="960120" cy="457200"/>
          </a:xfrm>
          <a:prstGeom prst="roundRect">
            <a:avLst>
              <a:gd name="adj" fmla="val 20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49" name="TextBox 548"/>
          <p:cNvSpPr txBox="1"/>
          <p:nvPr/>
        </p:nvSpPr>
        <p:spPr>
          <a:xfrm>
            <a:off x="8394192" y="4553712"/>
            <a:ext cx="960120" cy="4572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Signed / QR /</a:t>
            </a:r>
          </a:p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DigiLocker?</a:t>
            </a:r>
          </a:p>
        </p:txBody>
      </p:sp>
      <p:sp>
        <p:nvSpPr>
          <p:cNvPr id="550" name="Rounded Rectangle 549"/>
          <p:cNvSpPr/>
          <p:nvPr/>
        </p:nvSpPr>
        <p:spPr>
          <a:xfrm>
            <a:off x="9646919" y="4526280"/>
            <a:ext cx="960120" cy="310896"/>
          </a:xfrm>
          <a:prstGeom prst="roundRect">
            <a:avLst>
              <a:gd name="adj" fmla="val 29411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51" name="TextBox 550"/>
          <p:cNvSpPr txBox="1"/>
          <p:nvPr/>
        </p:nvSpPr>
        <p:spPr>
          <a:xfrm>
            <a:off x="9646919" y="4526280"/>
            <a:ext cx="960120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Verify at issuer</a:t>
            </a:r>
          </a:p>
        </p:txBody>
      </p:sp>
      <p:sp>
        <p:nvSpPr>
          <p:cNvPr id="552" name="Rounded Rectangle 551"/>
          <p:cNvSpPr/>
          <p:nvPr/>
        </p:nvSpPr>
        <p:spPr>
          <a:xfrm>
            <a:off x="9646919" y="4946904"/>
            <a:ext cx="777240" cy="310896"/>
          </a:xfrm>
          <a:prstGeom prst="roundRect">
            <a:avLst>
              <a:gd name="adj" fmla="val 29411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53" name="TextBox 552"/>
          <p:cNvSpPr txBox="1"/>
          <p:nvPr/>
        </p:nvSpPr>
        <p:spPr>
          <a:xfrm>
            <a:off x="9646919" y="4946904"/>
            <a:ext cx="777240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Forensics</a:t>
            </a:r>
          </a:p>
        </p:txBody>
      </p:sp>
      <p:sp>
        <p:nvSpPr>
          <p:cNvPr id="554" name="Rounded Rectangle 553"/>
          <p:cNvSpPr/>
          <p:nvPr/>
        </p:nvSpPr>
        <p:spPr>
          <a:xfrm>
            <a:off x="9646919" y="5458968"/>
            <a:ext cx="960120" cy="310896"/>
          </a:xfrm>
          <a:prstGeom prst="roundRect">
            <a:avLst>
              <a:gd name="adj" fmla="val 29411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55" name="TextBox 554"/>
          <p:cNvSpPr txBox="1"/>
          <p:nvPr/>
        </p:nvSpPr>
        <p:spPr>
          <a:xfrm>
            <a:off x="9646919" y="5458968"/>
            <a:ext cx="960120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Source down</a:t>
            </a:r>
          </a:p>
        </p:txBody>
      </p:sp>
      <p:cxnSp>
        <p:nvCxnSpPr>
          <p:cNvPr id="556" name="Connector 555"/>
          <p:cNvCxnSpPr/>
          <p:nvPr/>
        </p:nvCxnSpPr>
        <p:spPr>
          <a:xfrm flipV="1">
            <a:off x="9354312" y="4681728"/>
            <a:ext cx="292607" cy="27431"/>
          </a:xfrm>
          <a:prstGeom prst="line">
            <a:avLst/>
          </a:prstGeom>
          <a:ln w="1587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7" name="Connector 556"/>
          <p:cNvCxnSpPr/>
          <p:nvPr/>
        </p:nvCxnSpPr>
        <p:spPr>
          <a:xfrm>
            <a:off x="9354312" y="4846320"/>
            <a:ext cx="292607" cy="256032"/>
          </a:xfrm>
          <a:prstGeom prst="line">
            <a:avLst/>
          </a:prstGeom>
          <a:ln w="1587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8" name="Connector 557"/>
          <p:cNvCxnSpPr/>
          <p:nvPr/>
        </p:nvCxnSpPr>
        <p:spPr>
          <a:xfrm>
            <a:off x="10533888" y="4837176"/>
            <a:ext cx="0" cy="621792"/>
          </a:xfrm>
          <a:prstGeom prst="line">
            <a:avLst/>
          </a:prstGeom>
          <a:ln w="1587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9" name="TextBox 558"/>
          <p:cNvSpPr txBox="1"/>
          <p:nvPr/>
        </p:nvSpPr>
        <p:spPr>
          <a:xfrm>
            <a:off x="9354312" y="4489704"/>
            <a:ext cx="32004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700" b="1" i="0">
                <a:solidFill>
                  <a:srgbClr val="2E8B57"/>
                </a:solidFill>
                <a:latin typeface="Arial"/>
              </a:rPr>
              <a:t>yes</a:t>
            </a:r>
          </a:p>
        </p:txBody>
      </p:sp>
      <p:sp>
        <p:nvSpPr>
          <p:cNvPr id="560" name="TextBox 559"/>
          <p:cNvSpPr txBox="1"/>
          <p:nvPr/>
        </p:nvSpPr>
        <p:spPr>
          <a:xfrm>
            <a:off x="9354312" y="5001768"/>
            <a:ext cx="32004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700" b="1" i="0">
                <a:solidFill>
                  <a:srgbClr val="C0392B"/>
                </a:solidFill>
                <a:latin typeface="Arial"/>
              </a:rPr>
              <a:t>no</a:t>
            </a:r>
          </a:p>
        </p:txBody>
      </p:sp>
      <p:sp>
        <p:nvSpPr>
          <p:cNvPr id="561" name="Rounded Rectangle 560"/>
          <p:cNvSpPr/>
          <p:nvPr/>
        </p:nvSpPr>
        <p:spPr>
          <a:xfrm>
            <a:off x="10863072" y="4526280"/>
            <a:ext cx="987552" cy="182880"/>
          </a:xfrm>
          <a:prstGeom prst="roundRect">
            <a:avLst>
              <a:gd name="adj" fmla="val 25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62" name="TextBox 561"/>
          <p:cNvSpPr txBox="1"/>
          <p:nvPr/>
        </p:nvSpPr>
        <p:spPr>
          <a:xfrm>
            <a:off x="10863072" y="4526280"/>
            <a:ext cx="98755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Arial"/>
              </a:rPr>
              <a:t>Verified</a:t>
            </a:r>
          </a:p>
        </p:txBody>
      </p:sp>
      <p:sp>
        <p:nvSpPr>
          <p:cNvPr id="563" name="Rounded Rectangle 562"/>
          <p:cNvSpPr/>
          <p:nvPr/>
        </p:nvSpPr>
        <p:spPr>
          <a:xfrm>
            <a:off x="10863072" y="4727448"/>
            <a:ext cx="987552" cy="182880"/>
          </a:xfrm>
          <a:prstGeom prst="roundRect">
            <a:avLst>
              <a:gd name="adj" fmla="val 25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64" name="TextBox 563"/>
          <p:cNvSpPr txBox="1"/>
          <p:nvPr/>
        </p:nvSpPr>
        <p:spPr>
          <a:xfrm>
            <a:off x="10863072" y="4727448"/>
            <a:ext cx="98755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Arial"/>
              </a:rPr>
              <a:t>Mismatch</a:t>
            </a:r>
          </a:p>
        </p:txBody>
      </p:sp>
      <p:sp>
        <p:nvSpPr>
          <p:cNvPr id="565" name="Rounded Rectangle 564"/>
          <p:cNvSpPr/>
          <p:nvPr/>
        </p:nvSpPr>
        <p:spPr>
          <a:xfrm>
            <a:off x="10863072" y="4928616"/>
            <a:ext cx="987552" cy="182880"/>
          </a:xfrm>
          <a:prstGeom prst="roundRect">
            <a:avLst>
              <a:gd name="adj" fmla="val 25000"/>
            </a:avLst>
          </a:prstGeom>
          <a:solidFill>
            <a:srgbClr val="D9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66" name="TextBox 565"/>
          <p:cNvSpPr txBox="1"/>
          <p:nvPr/>
        </p:nvSpPr>
        <p:spPr>
          <a:xfrm>
            <a:off x="10863072" y="4928616"/>
            <a:ext cx="98755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Arial"/>
              </a:rPr>
              <a:t>Expired</a:t>
            </a:r>
          </a:p>
        </p:txBody>
      </p:sp>
      <p:sp>
        <p:nvSpPr>
          <p:cNvPr id="567" name="Rounded Rectangle 566"/>
          <p:cNvSpPr/>
          <p:nvPr/>
        </p:nvSpPr>
        <p:spPr>
          <a:xfrm>
            <a:off x="10863072" y="5148072"/>
            <a:ext cx="987552" cy="182880"/>
          </a:xfrm>
          <a:prstGeom prst="roundRect">
            <a:avLst>
              <a:gd name="adj" fmla="val 25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68" name="TextBox 567"/>
          <p:cNvSpPr txBox="1"/>
          <p:nvPr/>
        </p:nvSpPr>
        <p:spPr>
          <a:xfrm>
            <a:off x="10863072" y="5148072"/>
            <a:ext cx="98755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Arial"/>
              </a:rPr>
              <a:t>Manual review</a:t>
            </a:r>
          </a:p>
        </p:txBody>
      </p:sp>
      <p:sp>
        <p:nvSpPr>
          <p:cNvPr id="569" name="Rounded Rectangle 568"/>
          <p:cNvSpPr/>
          <p:nvPr/>
        </p:nvSpPr>
        <p:spPr>
          <a:xfrm>
            <a:off x="10863072" y="5367528"/>
            <a:ext cx="987552" cy="182880"/>
          </a:xfrm>
          <a:prstGeom prst="roundRect">
            <a:avLst>
              <a:gd name="adj" fmla="val 25000"/>
            </a:avLst>
          </a:prstGeom>
          <a:solidFill>
            <a:srgbClr val="1F5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70" name="TextBox 569"/>
          <p:cNvSpPr txBox="1"/>
          <p:nvPr/>
        </p:nvSpPr>
        <p:spPr>
          <a:xfrm>
            <a:off x="10863072" y="5367528"/>
            <a:ext cx="98755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Arial"/>
              </a:rPr>
              <a:t>Pending</a:t>
            </a:r>
          </a:p>
        </p:txBody>
      </p:sp>
      <p:sp>
        <p:nvSpPr>
          <p:cNvPr id="571" name="Rounded Rectangle 570"/>
          <p:cNvSpPr/>
          <p:nvPr/>
        </p:nvSpPr>
        <p:spPr>
          <a:xfrm>
            <a:off x="10863072" y="5586983"/>
            <a:ext cx="987552" cy="182880"/>
          </a:xfrm>
          <a:prstGeom prst="roundRect">
            <a:avLst>
              <a:gd name="adj" fmla="val 25000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72" name="TextBox 571"/>
          <p:cNvSpPr txBox="1"/>
          <p:nvPr/>
        </p:nvSpPr>
        <p:spPr>
          <a:xfrm>
            <a:off x="10863072" y="5586983"/>
            <a:ext cx="98755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Arial"/>
              </a:rPr>
              <a:t>Unavailable</a:t>
            </a:r>
          </a:p>
        </p:txBody>
      </p:sp>
      <p:cxnSp>
        <p:nvCxnSpPr>
          <p:cNvPr id="573" name="Connector 572"/>
          <p:cNvCxnSpPr/>
          <p:nvPr/>
        </p:nvCxnSpPr>
        <p:spPr>
          <a:xfrm flipV="1">
            <a:off x="10607040" y="4617720"/>
            <a:ext cx="256032" cy="64008"/>
          </a:xfrm>
          <a:prstGeom prst="line">
            <a:avLst/>
          </a:prstGeom>
          <a:ln w="1587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4" name="Connector 573"/>
          <p:cNvCxnSpPr/>
          <p:nvPr/>
        </p:nvCxnSpPr>
        <p:spPr>
          <a:xfrm>
            <a:off x="10424159" y="5102352"/>
            <a:ext cx="438913" cy="137160"/>
          </a:xfrm>
          <a:prstGeom prst="line">
            <a:avLst/>
          </a:prstGeom>
          <a:ln w="1587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5" name="Connector 574"/>
          <p:cNvCxnSpPr/>
          <p:nvPr/>
        </p:nvCxnSpPr>
        <p:spPr>
          <a:xfrm>
            <a:off x="10607040" y="5614416"/>
            <a:ext cx="256032" cy="64008"/>
          </a:xfrm>
          <a:prstGeom prst="line">
            <a:avLst/>
          </a:prstGeom>
          <a:ln w="1587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6" name="Rounded Rectangle 575"/>
          <p:cNvSpPr/>
          <p:nvPr/>
        </p:nvSpPr>
        <p:spPr>
          <a:xfrm>
            <a:off x="274320" y="5971032"/>
            <a:ext cx="11658600" cy="329184"/>
          </a:xfrm>
          <a:prstGeom prst="roundRect">
            <a:avLst>
              <a:gd name="adj" fmla="val 22222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577" name="Picture 576" descr="FaShieldHalved_w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384048" y="6016752"/>
            <a:ext cx="237744" cy="237744"/>
          </a:xfrm>
          <a:prstGeom prst="rect">
            <a:avLst/>
          </a:prstGeom>
        </p:spPr>
      </p:pic>
      <p:sp>
        <p:nvSpPr>
          <p:cNvPr id="578" name="TextBox 577"/>
          <p:cNvSpPr txBox="1"/>
          <p:nvPr/>
        </p:nvSpPr>
        <p:spPr>
          <a:xfrm>
            <a:off x="685800" y="5971032"/>
            <a:ext cx="11155680" cy="32918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Arial"/>
              </a:rPr>
              <a:t>Trust layer: </a:t>
            </a:r>
            <a:r>
              <a:rPr sz="950" b="0" i="0">
                <a:solidFill>
                  <a:srgbClr val="FFFFFF"/>
                </a:solidFill>
                <a:latin typeface="Arial"/>
              </a:rPr>
              <a:t>AES-256 encryption per document · Keycloak MFA + OPA role/region rules · hash-chained, tamper-evident audit log · HMAC-hashed faculty IDs · on-prem models, no third-party AI APIs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8"/>
          <p:cNvSpPr/>
          <p:nvPr/>
        </p:nvSpPr>
        <p:spPr>
          <a:xfrm>
            <a:off x="0" y="6354762"/>
            <a:ext cx="12192000" cy="5031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28"/>
          <p:cNvSpPr txBox="1">
            <a:spLocks noGrp="1"/>
          </p:cNvSpPr>
          <p:nvPr>
            <p:ph type="title"/>
          </p:nvPr>
        </p:nvSpPr>
        <p:spPr>
          <a:xfrm>
            <a:off x="155498" y="-190700"/>
            <a:ext cx="10972800" cy="11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>
                <a:latin typeface="Times New Roman"/>
                <a:ea typeface="Times New Roman"/>
                <a:cs typeface="Times New Roman"/>
                <a:sym typeface="Times New Roman"/>
              </a:rPr>
              <a:t>FEASIBILITY AND VIABILITY</a:t>
            </a:r>
            <a:endParaRPr sz="3300" b="1"/>
          </a:p>
        </p:txBody>
      </p:sp>
      <p:sp>
        <p:nvSpPr>
          <p:cNvPr id="419" name="Google Shape;419;p2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lt1"/>
                </a:solidFill>
              </a:rPr>
              <a:t>4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20" name="Google Shape;420;p28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</a:rPr>
              <a:t>@SIH Idea submission</a:t>
            </a:r>
            <a:endParaRPr sz="1500">
              <a:solidFill>
                <a:schemeClr val="lt1"/>
              </a:solidFill>
            </a:endParaRPr>
          </a:p>
        </p:txBody>
      </p:sp>
      <p:sp>
        <p:nvSpPr>
          <p:cNvPr id="421" name="Google Shape;421;p28" descr="Your startup LOGO"/>
          <p:cNvSpPr/>
          <p:nvPr/>
        </p:nvSpPr>
        <p:spPr>
          <a:xfrm>
            <a:off x="329773" y="252246"/>
            <a:ext cx="1251900" cy="8073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Citadel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22" name="Google Shape;42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58404" y="16423"/>
            <a:ext cx="2113821" cy="990251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Rounded Rectangle 422"/>
          <p:cNvSpPr/>
          <p:nvPr/>
        </p:nvSpPr>
        <p:spPr>
          <a:xfrm>
            <a:off x="274320" y="1901952"/>
            <a:ext cx="1828800" cy="868680"/>
          </a:xfrm>
          <a:prstGeom prst="roundRect">
            <a:avLst>
              <a:gd name="adj" fmla="val 47368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24" name="TextBox 423"/>
          <p:cNvSpPr txBox="1"/>
          <p:nvPr/>
        </p:nvSpPr>
        <p:spPr>
          <a:xfrm>
            <a:off x="274320" y="1901952"/>
            <a:ext cx="1828800" cy="8686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Feasibility &amp;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Viability</a:t>
            </a:r>
          </a:p>
        </p:txBody>
      </p:sp>
      <p:cxnSp>
        <p:nvCxnSpPr>
          <p:cNvPr id="425" name="Connector 424"/>
          <p:cNvCxnSpPr/>
          <p:nvPr/>
        </p:nvCxnSpPr>
        <p:spPr>
          <a:xfrm flipV="1">
            <a:off x="2103120" y="1243584"/>
            <a:ext cx="411480" cy="1088136"/>
          </a:xfrm>
          <a:prstGeom prst="line">
            <a:avLst/>
          </a:prstGeom>
          <a:ln w="19050">
            <a:solidFill>
              <a:srgbClr val="1F5F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6" name="Rounded Rectangle 425"/>
          <p:cNvSpPr/>
          <p:nvPr/>
        </p:nvSpPr>
        <p:spPr>
          <a:xfrm>
            <a:off x="2514600" y="1042416"/>
            <a:ext cx="1691640" cy="402336"/>
          </a:xfrm>
          <a:prstGeom prst="roundRect">
            <a:avLst>
              <a:gd name="adj" fmla="val 50000"/>
            </a:avLst>
          </a:prstGeom>
          <a:solidFill>
            <a:srgbClr val="E7EFFA"/>
          </a:solidFill>
          <a:ln w="12700">
            <a:solidFill>
              <a:srgbClr val="1F5F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27" name="TextBox 426"/>
          <p:cNvSpPr txBox="1"/>
          <p:nvPr/>
        </p:nvSpPr>
        <p:spPr>
          <a:xfrm>
            <a:off x="2514600" y="1042416"/>
            <a:ext cx="1691640" cy="40233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1F5FAD"/>
                </a:solidFill>
                <a:latin typeface="Arial"/>
              </a:rPr>
              <a:t>Technical</a:t>
            </a:r>
          </a:p>
        </p:txBody>
      </p:sp>
      <p:pic>
        <p:nvPicPr>
          <p:cNvPr id="428" name="Picture 427" descr="FaGears_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6040" y="1133856"/>
            <a:ext cx="182880" cy="182880"/>
          </a:xfrm>
          <a:prstGeom prst="rect">
            <a:avLst/>
          </a:prstGeom>
        </p:spPr>
      </p:pic>
      <p:cxnSp>
        <p:nvCxnSpPr>
          <p:cNvPr id="429" name="Connector 428"/>
          <p:cNvCxnSpPr/>
          <p:nvPr/>
        </p:nvCxnSpPr>
        <p:spPr>
          <a:xfrm>
            <a:off x="4206240" y="1243584"/>
            <a:ext cx="228600" cy="0"/>
          </a:xfrm>
          <a:prstGeom prst="line">
            <a:avLst/>
          </a:prstGeom>
          <a:ln w="15875">
            <a:solidFill>
              <a:srgbClr val="1F5FA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0" name="TextBox 429"/>
          <p:cNvSpPr txBox="1"/>
          <p:nvPr/>
        </p:nvSpPr>
        <p:spPr>
          <a:xfrm>
            <a:off x="4480560" y="1024128"/>
            <a:ext cx="7452360" cy="4572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950" b="1" i="0">
                <a:solidFill>
                  <a:srgbClr val="1F5FAD"/>
                </a:solidFill>
                <a:latin typeface="Arial"/>
              </a:rPr>
              <a:t>Mature open-source parts: </a:t>
            </a:r>
            <a:r>
              <a:rPr sz="950" b="0" i="0">
                <a:solidFill>
                  <a:srgbClr val="1F2937"/>
                </a:solidFill>
                <a:latin typeface="Arial"/>
              </a:rPr>
              <a:t>PaddleOCR, pyHanko, OpenCV; no custom model training needed</a:t>
            </a:r>
          </a:p>
          <a:p>
            <a:pPr algn="l"/>
            <a:r>
              <a:rPr sz="950" b="1" i="0">
                <a:solidFill>
                  <a:srgbClr val="1F5FAD"/>
                </a:solidFill>
                <a:latin typeface="Arial"/>
              </a:rPr>
              <a:t>Verify-first: </a:t>
            </a:r>
            <a:r>
              <a:rPr sz="950" b="0" i="0">
                <a:solidFill>
                  <a:srgbClr val="1F2937"/>
                </a:solidFill>
                <a:latin typeface="Arial"/>
              </a:rPr>
              <a:t>signed / DigiLocker documents skip forensics, cutting false flags</a:t>
            </a:r>
          </a:p>
        </p:txBody>
      </p:sp>
      <p:cxnSp>
        <p:nvCxnSpPr>
          <p:cNvPr id="431" name="Connector 430"/>
          <p:cNvCxnSpPr/>
          <p:nvPr/>
        </p:nvCxnSpPr>
        <p:spPr>
          <a:xfrm flipV="1">
            <a:off x="2103120" y="1764792"/>
            <a:ext cx="411480" cy="566928"/>
          </a:xfrm>
          <a:prstGeom prst="line">
            <a:avLst/>
          </a:prstGeom>
          <a:ln w="19050">
            <a:solidFill>
              <a:srgbClr val="2E8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2" name="Rounded Rectangle 431"/>
          <p:cNvSpPr/>
          <p:nvPr/>
        </p:nvSpPr>
        <p:spPr>
          <a:xfrm>
            <a:off x="2514600" y="1563624"/>
            <a:ext cx="1691640" cy="402336"/>
          </a:xfrm>
          <a:prstGeom prst="roundRect">
            <a:avLst>
              <a:gd name="adj" fmla="val 50000"/>
            </a:avLst>
          </a:prstGeom>
          <a:solidFill>
            <a:srgbClr val="E6F4EC"/>
          </a:solidFill>
          <a:ln w="127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33" name="TextBox 432"/>
          <p:cNvSpPr txBox="1"/>
          <p:nvPr/>
        </p:nvSpPr>
        <p:spPr>
          <a:xfrm>
            <a:off x="2514600" y="1563624"/>
            <a:ext cx="1691640" cy="40233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2E8B57"/>
                </a:solidFill>
                <a:latin typeface="Arial"/>
              </a:rPr>
              <a:t>Operational</a:t>
            </a:r>
          </a:p>
        </p:txBody>
      </p:sp>
      <p:pic>
        <p:nvPicPr>
          <p:cNvPr id="434" name="Picture 433" descr="FaLandmark_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6040" y="1655064"/>
            <a:ext cx="182880" cy="182880"/>
          </a:xfrm>
          <a:prstGeom prst="rect">
            <a:avLst/>
          </a:prstGeom>
        </p:spPr>
      </p:pic>
      <p:cxnSp>
        <p:nvCxnSpPr>
          <p:cNvPr id="435" name="Connector 434"/>
          <p:cNvCxnSpPr/>
          <p:nvPr/>
        </p:nvCxnSpPr>
        <p:spPr>
          <a:xfrm>
            <a:off x="4206240" y="1764792"/>
            <a:ext cx="228600" cy="0"/>
          </a:xfrm>
          <a:prstGeom prst="line">
            <a:avLst/>
          </a:prstGeom>
          <a:ln w="15875">
            <a:solidFill>
              <a:srgbClr val="2E8B5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6" name="TextBox 435"/>
          <p:cNvSpPr txBox="1"/>
          <p:nvPr/>
        </p:nvSpPr>
        <p:spPr>
          <a:xfrm>
            <a:off x="4480560" y="1545336"/>
            <a:ext cx="7452360" cy="4572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950" b="1" i="0">
                <a:solidFill>
                  <a:srgbClr val="2E8B57"/>
                </a:solidFill>
                <a:latin typeface="Arial"/>
              </a:rPr>
              <a:t>Plugs in before the Scrutiny Committee: </a:t>
            </a:r>
            <a:r>
              <a:rPr sz="950" b="0" i="0">
                <a:solidFill>
                  <a:srgbClr val="1F2937"/>
                </a:solidFill>
                <a:latin typeface="Arial"/>
              </a:rPr>
              <a:t>Scrutiny → EVC → SHC → Executive Committee chain unchanged</a:t>
            </a:r>
          </a:p>
          <a:p>
            <a:pPr algn="l"/>
            <a:r>
              <a:rPr sz="950" b="1" i="0">
                <a:solidFill>
                  <a:srgbClr val="2E8B57"/>
                </a:solidFill>
                <a:latin typeface="Arial"/>
              </a:rPr>
              <a:t>One engine, two sides: </a:t>
            </a:r>
            <a:r>
              <a:rPr sz="950" b="0" i="0">
                <a:solidFill>
                  <a:srgbClr val="1F2937"/>
                </a:solidFill>
                <a:latin typeface="Arial"/>
              </a:rPr>
              <a:t>institutions run the same checks as a pre-check before submitting</a:t>
            </a:r>
          </a:p>
        </p:txBody>
      </p:sp>
      <p:cxnSp>
        <p:nvCxnSpPr>
          <p:cNvPr id="437" name="Connector 436"/>
          <p:cNvCxnSpPr/>
          <p:nvPr/>
        </p:nvCxnSpPr>
        <p:spPr>
          <a:xfrm flipV="1">
            <a:off x="2103120" y="2286000"/>
            <a:ext cx="411480" cy="45720"/>
          </a:xfrm>
          <a:prstGeom prst="line">
            <a:avLst/>
          </a:prstGeom>
          <a:ln w="19050">
            <a:solidFill>
              <a:srgbClr val="E877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8" name="Rounded Rectangle 437"/>
          <p:cNvSpPr/>
          <p:nvPr/>
        </p:nvSpPr>
        <p:spPr>
          <a:xfrm>
            <a:off x="2514600" y="2084831"/>
            <a:ext cx="1691640" cy="402336"/>
          </a:xfrm>
          <a:prstGeom prst="roundRect">
            <a:avLst>
              <a:gd name="adj" fmla="val 50000"/>
            </a:avLst>
          </a:prstGeom>
          <a:solidFill>
            <a:srgbClr val="FDF0E6"/>
          </a:solidFill>
          <a:ln w="12700">
            <a:solidFill>
              <a:srgbClr val="E87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39" name="TextBox 438"/>
          <p:cNvSpPr txBox="1"/>
          <p:nvPr/>
        </p:nvSpPr>
        <p:spPr>
          <a:xfrm>
            <a:off x="2514600" y="2084831"/>
            <a:ext cx="1691640" cy="40233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E8772E"/>
                </a:solidFill>
                <a:latin typeface="Arial"/>
              </a:rPr>
              <a:t>Economic</a:t>
            </a:r>
          </a:p>
        </p:txBody>
      </p:sp>
      <p:pic>
        <p:nvPicPr>
          <p:cNvPr id="440" name="Picture 439" descr="FaIndianRupeeSign_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06040" y="2176272"/>
            <a:ext cx="182880" cy="182880"/>
          </a:xfrm>
          <a:prstGeom prst="rect">
            <a:avLst/>
          </a:prstGeom>
        </p:spPr>
      </p:pic>
      <p:cxnSp>
        <p:nvCxnSpPr>
          <p:cNvPr id="441" name="Connector 440"/>
          <p:cNvCxnSpPr/>
          <p:nvPr/>
        </p:nvCxnSpPr>
        <p:spPr>
          <a:xfrm>
            <a:off x="4206240" y="2286000"/>
            <a:ext cx="228600" cy="0"/>
          </a:xfrm>
          <a:prstGeom prst="line">
            <a:avLst/>
          </a:prstGeom>
          <a:ln w="15875">
            <a:solidFill>
              <a:srgbClr val="E8772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2" name="TextBox 441"/>
          <p:cNvSpPr txBox="1"/>
          <p:nvPr/>
        </p:nvSpPr>
        <p:spPr>
          <a:xfrm>
            <a:off x="4480560" y="2066543"/>
            <a:ext cx="7452360" cy="4572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950" b="1" i="0">
                <a:solidFill>
                  <a:srgbClr val="E8772E"/>
                </a:solidFill>
                <a:latin typeface="Arial"/>
              </a:rPr>
              <a:t>On-prem, no per-document API fees: </a:t>
            </a:r>
            <a:r>
              <a:rPr sz="950" b="0" i="0">
                <a:solidFill>
                  <a:srgbClr val="1F2937"/>
                </a:solidFill>
                <a:latin typeface="Arial"/>
              </a:rPr>
              <a:t>scale by adding worker nodes on government servers</a:t>
            </a:r>
          </a:p>
          <a:p>
            <a:pPr algn="l"/>
            <a:r>
              <a:rPr sz="950" b="1" i="0">
                <a:solidFill>
                  <a:srgbClr val="E8772E"/>
                </a:solidFill>
                <a:latin typeface="Arial"/>
              </a:rPr>
              <a:t>Targeted inspections: </a:t>
            </a:r>
            <a:r>
              <a:rPr sz="950" b="0" i="0">
                <a:solidFill>
                  <a:srgbClr val="1F2937"/>
                </a:solidFill>
                <a:latin typeface="Arial"/>
              </a:rPr>
              <a:t>EVC visits focus on unresolved items, not full re-checks</a:t>
            </a:r>
          </a:p>
        </p:txBody>
      </p:sp>
      <p:cxnSp>
        <p:nvCxnSpPr>
          <p:cNvPr id="443" name="Connector 442"/>
          <p:cNvCxnSpPr/>
          <p:nvPr/>
        </p:nvCxnSpPr>
        <p:spPr>
          <a:xfrm>
            <a:off x="2103120" y="2331720"/>
            <a:ext cx="411480" cy="475488"/>
          </a:xfrm>
          <a:prstGeom prst="line">
            <a:avLst/>
          </a:prstGeom>
          <a:ln w="19050">
            <a:solidFill>
              <a:srgbClr val="6A4C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4" name="Rounded Rectangle 443"/>
          <p:cNvSpPr/>
          <p:nvPr/>
        </p:nvSpPr>
        <p:spPr>
          <a:xfrm>
            <a:off x="2514600" y="2606040"/>
            <a:ext cx="1691640" cy="402336"/>
          </a:xfrm>
          <a:prstGeom prst="roundRect">
            <a:avLst>
              <a:gd name="adj" fmla="val 50000"/>
            </a:avLst>
          </a:prstGeom>
          <a:solidFill>
            <a:srgbClr val="F1ECF7"/>
          </a:solidFill>
          <a:ln w="12700">
            <a:solidFill>
              <a:srgbClr val="6A4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45" name="TextBox 444"/>
          <p:cNvSpPr txBox="1"/>
          <p:nvPr/>
        </p:nvSpPr>
        <p:spPr>
          <a:xfrm>
            <a:off x="2514600" y="2606040"/>
            <a:ext cx="1691640" cy="40233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6A4C93"/>
                </a:solidFill>
                <a:latin typeface="Arial"/>
              </a:rPr>
              <a:t>Legal &amp; Privacy</a:t>
            </a:r>
          </a:p>
        </p:txBody>
      </p:sp>
      <p:pic>
        <p:nvPicPr>
          <p:cNvPr id="446" name="Picture 445" descr="FaScaleBalanced_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06040" y="2697480"/>
            <a:ext cx="182880" cy="182880"/>
          </a:xfrm>
          <a:prstGeom prst="rect">
            <a:avLst/>
          </a:prstGeom>
        </p:spPr>
      </p:pic>
      <p:cxnSp>
        <p:nvCxnSpPr>
          <p:cNvPr id="447" name="Connector 446"/>
          <p:cNvCxnSpPr/>
          <p:nvPr/>
        </p:nvCxnSpPr>
        <p:spPr>
          <a:xfrm>
            <a:off x="4206240" y="2807208"/>
            <a:ext cx="228600" cy="0"/>
          </a:xfrm>
          <a:prstGeom prst="line">
            <a:avLst/>
          </a:prstGeom>
          <a:ln w="15875">
            <a:solidFill>
              <a:srgbClr val="6A4C9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8" name="TextBox 447"/>
          <p:cNvSpPr txBox="1"/>
          <p:nvPr/>
        </p:nvSpPr>
        <p:spPr>
          <a:xfrm>
            <a:off x="4480560" y="2587752"/>
            <a:ext cx="7452360" cy="4572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950" b="1" i="0">
                <a:solidFill>
                  <a:srgbClr val="6A4C93"/>
                </a:solidFill>
                <a:latin typeface="Arial"/>
              </a:rPr>
              <a:t>DPDP Act 2023 + Rules 2025: </a:t>
            </a:r>
            <a:r>
              <a:rPr sz="950" b="0" i="0">
                <a:solidFill>
                  <a:srgbClr val="1F2937"/>
                </a:solidFill>
                <a:latin typeface="Arial"/>
              </a:rPr>
              <a:t>encryption, access logs, HMAC-hashed IDs, retention limits</a:t>
            </a:r>
          </a:p>
          <a:p>
            <a:pPr algn="l"/>
            <a:r>
              <a:rPr sz="950" b="1" i="0">
                <a:solidFill>
                  <a:srgbClr val="6A4C93"/>
                </a:solidFill>
                <a:latin typeface="Arial"/>
              </a:rPr>
              <a:t>MeitY AI Governance Guidelines (2025): </a:t>
            </a:r>
            <a:r>
              <a:rPr sz="950" b="0" i="0">
                <a:solidFill>
                  <a:srgbClr val="1F2937"/>
                </a:solidFill>
                <a:latin typeface="Arial"/>
              </a:rPr>
              <a:t>human oversight; officer makes every decision</a:t>
            </a:r>
          </a:p>
        </p:txBody>
      </p:sp>
      <p:cxnSp>
        <p:nvCxnSpPr>
          <p:cNvPr id="449" name="Connector 448"/>
          <p:cNvCxnSpPr/>
          <p:nvPr/>
        </p:nvCxnSpPr>
        <p:spPr>
          <a:xfrm>
            <a:off x="2103120" y="2331720"/>
            <a:ext cx="411480" cy="996695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0" name="Rounded Rectangle 449"/>
          <p:cNvSpPr/>
          <p:nvPr/>
        </p:nvSpPr>
        <p:spPr>
          <a:xfrm>
            <a:off x="2514600" y="3127248"/>
            <a:ext cx="1691640" cy="402336"/>
          </a:xfrm>
          <a:prstGeom prst="roundRect">
            <a:avLst>
              <a:gd name="adj" fmla="val 50000"/>
            </a:avLst>
          </a:prstGeom>
          <a:solidFill>
            <a:srgbClr val="FBEAE8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51" name="TextBox 450"/>
          <p:cNvSpPr txBox="1"/>
          <p:nvPr/>
        </p:nvSpPr>
        <p:spPr>
          <a:xfrm>
            <a:off x="2514600" y="3127248"/>
            <a:ext cx="1691640" cy="40233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C0392B"/>
                </a:solidFill>
                <a:latin typeface="Arial"/>
              </a:rPr>
              <a:t>Proof of accuracy</a:t>
            </a:r>
          </a:p>
        </p:txBody>
      </p:sp>
      <p:pic>
        <p:nvPicPr>
          <p:cNvPr id="452" name="Picture 451" descr="FaFlask_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06040" y="3218688"/>
            <a:ext cx="182880" cy="182880"/>
          </a:xfrm>
          <a:prstGeom prst="rect">
            <a:avLst/>
          </a:prstGeom>
        </p:spPr>
      </p:pic>
      <p:cxnSp>
        <p:nvCxnSpPr>
          <p:cNvPr id="453" name="Connector 452"/>
          <p:cNvCxnSpPr/>
          <p:nvPr/>
        </p:nvCxnSpPr>
        <p:spPr>
          <a:xfrm>
            <a:off x="4206240" y="3328415"/>
            <a:ext cx="228600" cy="0"/>
          </a:xfrm>
          <a:prstGeom prst="line">
            <a:avLst/>
          </a:prstGeom>
          <a:ln w="15875">
            <a:solidFill>
              <a:srgbClr val="C0392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4" name="TextBox 453"/>
          <p:cNvSpPr txBox="1"/>
          <p:nvPr/>
        </p:nvSpPr>
        <p:spPr>
          <a:xfrm>
            <a:off x="4480560" y="3108960"/>
            <a:ext cx="7452360" cy="4572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950" b="1" i="0">
                <a:solidFill>
                  <a:srgbClr val="C0392B"/>
                </a:solidFill>
                <a:latin typeface="Arial"/>
              </a:rPr>
              <a:t>Open synthetic benchmark: </a:t>
            </a:r>
            <a:r>
              <a:rPr sz="950" b="0" i="0">
                <a:solidFill>
                  <a:srgbClr val="1F2937"/>
                </a:solidFill>
                <a:latin typeface="Arial"/>
              </a:rPr>
              <a:t>200 institutions · ~2,000 documents · 8 labelled tamper types</a:t>
            </a:r>
          </a:p>
          <a:p>
            <a:pPr algn="l"/>
            <a:r>
              <a:rPr sz="950" b="1" i="0">
                <a:solidFill>
                  <a:srgbClr val="C0392B"/>
                </a:solidFill>
                <a:latin typeface="Arial"/>
              </a:rPr>
              <a:t>We report: </a:t>
            </a:r>
            <a:r>
              <a:rPr sz="950" b="0" i="0">
                <a:solidFill>
                  <a:srgbClr val="1F2937"/>
                </a:solidFill>
                <a:latin typeface="Arial"/>
              </a:rPr>
              <a:t>precision / recall per tamper type and false flags per genuine application</a:t>
            </a:r>
          </a:p>
        </p:txBody>
      </p:sp>
      <p:sp>
        <p:nvSpPr>
          <p:cNvPr id="455" name="TextBox 454"/>
          <p:cNvSpPr txBox="1"/>
          <p:nvPr/>
        </p:nvSpPr>
        <p:spPr>
          <a:xfrm>
            <a:off x="274320" y="3675887"/>
            <a:ext cx="11658600" cy="29260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POTENTIAL CHALLENGES &amp; STRATEGIES TO OVERCOME THEM</a:t>
            </a:r>
          </a:p>
        </p:txBody>
      </p:sp>
      <p:sp>
        <p:nvSpPr>
          <p:cNvPr id="456" name="Rounded Rectangle 455"/>
          <p:cNvSpPr/>
          <p:nvPr/>
        </p:nvSpPr>
        <p:spPr>
          <a:xfrm>
            <a:off x="274320" y="4005072"/>
            <a:ext cx="5760720" cy="292608"/>
          </a:xfrm>
          <a:prstGeom prst="roundRect">
            <a:avLst>
              <a:gd name="adj" fmla="val 18750"/>
            </a:avLst>
          </a:prstGeom>
          <a:solidFill>
            <a:srgbClr val="FB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57" name="TextBox 456"/>
          <p:cNvSpPr txBox="1"/>
          <p:nvPr/>
        </p:nvSpPr>
        <p:spPr>
          <a:xfrm>
            <a:off x="274320" y="4005072"/>
            <a:ext cx="5760720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C0392B"/>
                </a:solidFill>
                <a:latin typeface="Arial"/>
              </a:rPr>
              <a:t>POTENTIAL CHALLENGES &amp; RISKS</a:t>
            </a:r>
          </a:p>
        </p:txBody>
      </p:sp>
      <p:sp>
        <p:nvSpPr>
          <p:cNvPr id="458" name="Rounded Rectangle 457"/>
          <p:cNvSpPr/>
          <p:nvPr/>
        </p:nvSpPr>
        <p:spPr>
          <a:xfrm>
            <a:off x="6172200" y="4005072"/>
            <a:ext cx="5760720" cy="292608"/>
          </a:xfrm>
          <a:prstGeom prst="roundRect">
            <a:avLst>
              <a:gd name="adj" fmla="val 18750"/>
            </a:avLst>
          </a:prstGeom>
          <a:solidFill>
            <a:srgbClr val="E6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59" name="TextBox 458"/>
          <p:cNvSpPr txBox="1"/>
          <p:nvPr/>
        </p:nvSpPr>
        <p:spPr>
          <a:xfrm>
            <a:off x="6172200" y="4005072"/>
            <a:ext cx="5760720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2E8B57"/>
                </a:solidFill>
                <a:latin typeface="Arial"/>
              </a:rPr>
              <a:t>MITIGATION STRATEGIES</a:t>
            </a:r>
          </a:p>
        </p:txBody>
      </p:sp>
      <p:sp>
        <p:nvSpPr>
          <p:cNvPr id="460" name="Rounded Rectangle 459"/>
          <p:cNvSpPr/>
          <p:nvPr/>
        </p:nvSpPr>
        <p:spPr>
          <a:xfrm>
            <a:off x="274320" y="4361688"/>
            <a:ext cx="5760720" cy="338328"/>
          </a:xfrm>
          <a:prstGeom prst="roundRect">
            <a:avLst>
              <a:gd name="adj" fmla="val 13513"/>
            </a:avLst>
          </a:prstGeom>
          <a:solidFill>
            <a:srgbClr val="FB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61" name="Rectangle 460"/>
          <p:cNvSpPr/>
          <p:nvPr/>
        </p:nvSpPr>
        <p:spPr>
          <a:xfrm>
            <a:off x="274320" y="4361688"/>
            <a:ext cx="54864" cy="33832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462" name="Picture 461" descr="FaLanguage_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1480" y="4425696"/>
            <a:ext cx="210312" cy="210312"/>
          </a:xfrm>
          <a:prstGeom prst="rect">
            <a:avLst/>
          </a:prstGeom>
        </p:spPr>
      </p:pic>
      <p:sp>
        <p:nvSpPr>
          <p:cNvPr id="463" name="TextBox 462"/>
          <p:cNvSpPr txBox="1"/>
          <p:nvPr/>
        </p:nvSpPr>
        <p:spPr>
          <a:xfrm>
            <a:off x="685800" y="4361688"/>
            <a:ext cx="5303520" cy="33832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950" b="1" i="0">
                <a:solidFill>
                  <a:srgbClr val="C0392B"/>
                </a:solidFill>
                <a:latin typeface="Arial"/>
              </a:rPr>
              <a:t>Poor or regional-language scans: </a:t>
            </a:r>
            <a:r>
              <a:rPr sz="950" b="0" i="0">
                <a:solidFill>
                  <a:srgbClr val="1F2937"/>
                </a:solidFill>
                <a:latin typeface="Arial"/>
              </a:rPr>
              <a:t>faded stamps, Hindi and state-language NOCs</a:t>
            </a:r>
          </a:p>
        </p:txBody>
      </p:sp>
      <p:cxnSp>
        <p:nvCxnSpPr>
          <p:cNvPr id="464" name="Connector 463"/>
          <p:cNvCxnSpPr/>
          <p:nvPr/>
        </p:nvCxnSpPr>
        <p:spPr>
          <a:xfrm>
            <a:off x="6035040" y="4526279"/>
            <a:ext cx="137160" cy="0"/>
          </a:xfrm>
          <a:prstGeom prst="line">
            <a:avLst/>
          </a:prstGeom>
          <a:ln w="1587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5" name="Rounded Rectangle 464"/>
          <p:cNvSpPr/>
          <p:nvPr/>
        </p:nvSpPr>
        <p:spPr>
          <a:xfrm>
            <a:off x="6172200" y="4361688"/>
            <a:ext cx="5760720" cy="338328"/>
          </a:xfrm>
          <a:prstGeom prst="roundRect">
            <a:avLst>
              <a:gd name="adj" fmla="val 13513"/>
            </a:avLst>
          </a:prstGeom>
          <a:solidFill>
            <a:srgbClr val="E6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66" name="Rectangle 465"/>
          <p:cNvSpPr/>
          <p:nvPr/>
        </p:nvSpPr>
        <p:spPr>
          <a:xfrm>
            <a:off x="6172200" y="4361688"/>
            <a:ext cx="54864" cy="338328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467" name="Picture 466" descr="FaCircleCheck_g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09360" y="4425696"/>
            <a:ext cx="210312" cy="210312"/>
          </a:xfrm>
          <a:prstGeom prst="rect">
            <a:avLst/>
          </a:prstGeom>
        </p:spPr>
      </p:pic>
      <p:sp>
        <p:nvSpPr>
          <p:cNvPr id="468" name="TextBox 467"/>
          <p:cNvSpPr txBox="1"/>
          <p:nvPr/>
        </p:nvSpPr>
        <p:spPr>
          <a:xfrm>
            <a:off x="6583680" y="4361688"/>
            <a:ext cx="5303520" cy="33832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950" b="1" i="0">
                <a:solidFill>
                  <a:srgbClr val="2E8B57"/>
                </a:solidFill>
                <a:latin typeface="Arial"/>
              </a:rPr>
              <a:t>Indic OCR + per-field confidence: </a:t>
            </a:r>
            <a:r>
              <a:rPr sz="950" b="0" i="0">
                <a:solidFill>
                  <a:srgbClr val="1F2937"/>
                </a:solidFill>
                <a:latin typeface="Arial"/>
              </a:rPr>
              <a:t>low confidence goes to manual review, never auto-fails</a:t>
            </a:r>
          </a:p>
        </p:txBody>
      </p:sp>
      <p:sp>
        <p:nvSpPr>
          <p:cNvPr id="469" name="Rounded Rectangle 468"/>
          <p:cNvSpPr/>
          <p:nvPr/>
        </p:nvSpPr>
        <p:spPr>
          <a:xfrm>
            <a:off x="274320" y="4745736"/>
            <a:ext cx="5760720" cy="338328"/>
          </a:xfrm>
          <a:prstGeom prst="roundRect">
            <a:avLst>
              <a:gd name="adj" fmla="val 13513"/>
            </a:avLst>
          </a:prstGeom>
          <a:solidFill>
            <a:srgbClr val="FB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70" name="Rectangle 469"/>
          <p:cNvSpPr/>
          <p:nvPr/>
        </p:nvSpPr>
        <p:spPr>
          <a:xfrm>
            <a:off x="274320" y="4745736"/>
            <a:ext cx="54864" cy="33832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471" name="Picture 470" descr="FaMask_r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1480" y="4809744"/>
            <a:ext cx="210312" cy="210312"/>
          </a:xfrm>
          <a:prstGeom prst="rect">
            <a:avLst/>
          </a:prstGeom>
        </p:spPr>
      </p:pic>
      <p:sp>
        <p:nvSpPr>
          <p:cNvPr id="472" name="TextBox 471"/>
          <p:cNvSpPr txBox="1"/>
          <p:nvPr/>
        </p:nvSpPr>
        <p:spPr>
          <a:xfrm>
            <a:off x="685800" y="4745736"/>
            <a:ext cx="5303520" cy="33832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950" b="1" i="0">
                <a:solidFill>
                  <a:srgbClr val="C0392B"/>
                </a:solidFill>
                <a:latin typeface="Arial"/>
              </a:rPr>
              <a:t>Sophisticated forgeries: </a:t>
            </a:r>
            <a:r>
              <a:rPr sz="950" b="0" i="0">
                <a:solidFill>
                  <a:srgbClr val="1F2937"/>
                </a:solidFill>
                <a:latin typeface="Arial"/>
              </a:rPr>
              <a:t>edits that pass image forensics</a:t>
            </a:r>
          </a:p>
        </p:txBody>
      </p:sp>
      <p:cxnSp>
        <p:nvCxnSpPr>
          <p:cNvPr id="473" name="Connector 472"/>
          <p:cNvCxnSpPr/>
          <p:nvPr/>
        </p:nvCxnSpPr>
        <p:spPr>
          <a:xfrm>
            <a:off x="6035040" y="4910327"/>
            <a:ext cx="137160" cy="0"/>
          </a:xfrm>
          <a:prstGeom prst="line">
            <a:avLst/>
          </a:prstGeom>
          <a:ln w="1587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4" name="Rounded Rectangle 473"/>
          <p:cNvSpPr/>
          <p:nvPr/>
        </p:nvSpPr>
        <p:spPr>
          <a:xfrm>
            <a:off x="6172200" y="4745736"/>
            <a:ext cx="5760720" cy="338328"/>
          </a:xfrm>
          <a:prstGeom prst="roundRect">
            <a:avLst>
              <a:gd name="adj" fmla="val 13513"/>
            </a:avLst>
          </a:prstGeom>
          <a:solidFill>
            <a:srgbClr val="E6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75" name="Rectangle 474"/>
          <p:cNvSpPr/>
          <p:nvPr/>
        </p:nvSpPr>
        <p:spPr>
          <a:xfrm>
            <a:off x="6172200" y="4745736"/>
            <a:ext cx="54864" cy="338328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476" name="Picture 475" descr="FaCircleCheck_g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09360" y="4809744"/>
            <a:ext cx="210312" cy="210312"/>
          </a:xfrm>
          <a:prstGeom prst="rect">
            <a:avLst/>
          </a:prstGeom>
        </p:spPr>
      </p:pic>
      <p:sp>
        <p:nvSpPr>
          <p:cNvPr id="477" name="TextBox 476"/>
          <p:cNvSpPr txBox="1"/>
          <p:nvPr/>
        </p:nvSpPr>
        <p:spPr>
          <a:xfrm>
            <a:off x="6583680" y="4745736"/>
            <a:ext cx="5303520" cy="33832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950" b="1" i="0">
                <a:solidFill>
                  <a:srgbClr val="2E8B57"/>
                </a:solidFill>
                <a:latin typeface="Arial"/>
              </a:rPr>
              <a:t>Issuer check first: </a:t>
            </a:r>
            <a:r>
              <a:rPr sz="950" b="0" i="0">
                <a:solidFill>
                  <a:srgbClr val="1F2937"/>
                </a:solidFill>
                <a:latin typeface="Arial"/>
              </a:rPr>
              <a:t>multi-signal forensics (PDF structure + ELA + reuse), always advisory</a:t>
            </a:r>
          </a:p>
        </p:txBody>
      </p:sp>
      <p:sp>
        <p:nvSpPr>
          <p:cNvPr id="478" name="Rounded Rectangle 477"/>
          <p:cNvSpPr/>
          <p:nvPr/>
        </p:nvSpPr>
        <p:spPr>
          <a:xfrm>
            <a:off x="274320" y="5129783"/>
            <a:ext cx="5760720" cy="338328"/>
          </a:xfrm>
          <a:prstGeom prst="roundRect">
            <a:avLst>
              <a:gd name="adj" fmla="val 13513"/>
            </a:avLst>
          </a:prstGeom>
          <a:solidFill>
            <a:srgbClr val="FB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79" name="Rectangle 478"/>
          <p:cNvSpPr/>
          <p:nvPr/>
        </p:nvSpPr>
        <p:spPr>
          <a:xfrm>
            <a:off x="274320" y="5129783"/>
            <a:ext cx="54864" cy="33832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480" name="Picture 479" descr="FaBell_r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1480" y="5193792"/>
            <a:ext cx="210312" cy="210312"/>
          </a:xfrm>
          <a:prstGeom prst="rect">
            <a:avLst/>
          </a:prstGeom>
        </p:spPr>
      </p:pic>
      <p:sp>
        <p:nvSpPr>
          <p:cNvPr id="481" name="TextBox 480"/>
          <p:cNvSpPr txBox="1"/>
          <p:nvPr/>
        </p:nvSpPr>
        <p:spPr>
          <a:xfrm>
            <a:off x="685800" y="5129783"/>
            <a:ext cx="5303520" cy="33832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950" b="1" i="0">
                <a:solidFill>
                  <a:srgbClr val="C0392B"/>
                </a:solidFill>
                <a:latin typeface="Arial"/>
              </a:rPr>
              <a:t>False flags overload officers: </a:t>
            </a:r>
            <a:r>
              <a:rPr sz="950" b="0" i="0">
                <a:solidFill>
                  <a:srgbClr val="1F2937"/>
                </a:solidFill>
                <a:latin typeface="Arial"/>
              </a:rPr>
              <a:t>noise erodes trust in the tool</a:t>
            </a:r>
          </a:p>
        </p:txBody>
      </p:sp>
      <p:cxnSp>
        <p:nvCxnSpPr>
          <p:cNvPr id="482" name="Connector 481"/>
          <p:cNvCxnSpPr/>
          <p:nvPr/>
        </p:nvCxnSpPr>
        <p:spPr>
          <a:xfrm>
            <a:off x="6035040" y="5294375"/>
            <a:ext cx="137160" cy="0"/>
          </a:xfrm>
          <a:prstGeom prst="line">
            <a:avLst/>
          </a:prstGeom>
          <a:ln w="1587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3" name="Rounded Rectangle 482"/>
          <p:cNvSpPr/>
          <p:nvPr/>
        </p:nvSpPr>
        <p:spPr>
          <a:xfrm>
            <a:off x="6172200" y="5129783"/>
            <a:ext cx="5760720" cy="338328"/>
          </a:xfrm>
          <a:prstGeom prst="roundRect">
            <a:avLst>
              <a:gd name="adj" fmla="val 13513"/>
            </a:avLst>
          </a:prstGeom>
          <a:solidFill>
            <a:srgbClr val="E6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84" name="Rectangle 483"/>
          <p:cNvSpPr/>
          <p:nvPr/>
        </p:nvSpPr>
        <p:spPr>
          <a:xfrm>
            <a:off x="6172200" y="5129783"/>
            <a:ext cx="54864" cy="338328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485" name="Picture 484" descr="FaCircleCheck_g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09360" y="5193792"/>
            <a:ext cx="210312" cy="210312"/>
          </a:xfrm>
          <a:prstGeom prst="rect">
            <a:avLst/>
          </a:prstGeom>
        </p:spPr>
      </p:pic>
      <p:sp>
        <p:nvSpPr>
          <p:cNvPr id="486" name="TextBox 485"/>
          <p:cNvSpPr txBox="1"/>
          <p:nvPr/>
        </p:nvSpPr>
        <p:spPr>
          <a:xfrm>
            <a:off x="6583680" y="5129783"/>
            <a:ext cx="5303520" cy="33832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950" b="1" i="0">
                <a:solidFill>
                  <a:srgbClr val="2E8B57"/>
                </a:solidFill>
                <a:latin typeface="Arial"/>
              </a:rPr>
              <a:t>Benchmark-tuned thresholds: </a:t>
            </a:r>
            <a:r>
              <a:rPr sz="950" b="0" i="0">
                <a:solidFill>
                  <a:srgbClr val="1F2937"/>
                </a:solidFill>
                <a:latin typeface="Arial"/>
              </a:rPr>
              <a:t>false flags per genuine application tracked; severity-ranked queue</a:t>
            </a:r>
          </a:p>
        </p:txBody>
      </p:sp>
      <p:sp>
        <p:nvSpPr>
          <p:cNvPr id="487" name="Rounded Rectangle 486"/>
          <p:cNvSpPr/>
          <p:nvPr/>
        </p:nvSpPr>
        <p:spPr>
          <a:xfrm>
            <a:off x="274320" y="5513831"/>
            <a:ext cx="5760720" cy="338328"/>
          </a:xfrm>
          <a:prstGeom prst="roundRect">
            <a:avLst>
              <a:gd name="adj" fmla="val 13513"/>
            </a:avLst>
          </a:prstGeom>
          <a:solidFill>
            <a:srgbClr val="FB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88" name="Rectangle 487"/>
          <p:cNvSpPr/>
          <p:nvPr/>
        </p:nvSpPr>
        <p:spPr>
          <a:xfrm>
            <a:off x="274320" y="5513831"/>
            <a:ext cx="54864" cy="33832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489" name="Picture 488" descr="FaPlug_r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1480" y="5577840"/>
            <a:ext cx="210312" cy="210312"/>
          </a:xfrm>
          <a:prstGeom prst="rect">
            <a:avLst/>
          </a:prstGeom>
        </p:spPr>
      </p:pic>
      <p:sp>
        <p:nvSpPr>
          <p:cNvPr id="490" name="TextBox 489"/>
          <p:cNvSpPr txBox="1"/>
          <p:nvPr/>
        </p:nvSpPr>
        <p:spPr>
          <a:xfrm>
            <a:off x="685800" y="5513831"/>
            <a:ext cx="5303520" cy="33832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950" b="1" i="0">
                <a:solidFill>
                  <a:srgbClr val="C0392B"/>
                </a:solidFill>
                <a:latin typeface="Arial"/>
              </a:rPr>
              <a:t>No public APIs: </a:t>
            </a:r>
            <a:r>
              <a:rPr sz="950" b="0" i="0">
                <a:solidFill>
                  <a:srgbClr val="1F2937"/>
                </a:solidFill>
                <a:latin typeface="Arial"/>
              </a:rPr>
              <a:t>fire NOCs, land records, AICTE faculty registry</a:t>
            </a:r>
          </a:p>
        </p:txBody>
      </p:sp>
      <p:cxnSp>
        <p:nvCxnSpPr>
          <p:cNvPr id="491" name="Connector 490"/>
          <p:cNvCxnSpPr/>
          <p:nvPr/>
        </p:nvCxnSpPr>
        <p:spPr>
          <a:xfrm>
            <a:off x="6035040" y="5678423"/>
            <a:ext cx="137160" cy="0"/>
          </a:xfrm>
          <a:prstGeom prst="line">
            <a:avLst/>
          </a:prstGeom>
          <a:ln w="1587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2" name="Rounded Rectangle 491"/>
          <p:cNvSpPr/>
          <p:nvPr/>
        </p:nvSpPr>
        <p:spPr>
          <a:xfrm>
            <a:off x="6172200" y="5513831"/>
            <a:ext cx="5760720" cy="338328"/>
          </a:xfrm>
          <a:prstGeom prst="roundRect">
            <a:avLst>
              <a:gd name="adj" fmla="val 13513"/>
            </a:avLst>
          </a:prstGeom>
          <a:solidFill>
            <a:srgbClr val="E6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93" name="Rectangle 492"/>
          <p:cNvSpPr/>
          <p:nvPr/>
        </p:nvSpPr>
        <p:spPr>
          <a:xfrm>
            <a:off x="6172200" y="5513831"/>
            <a:ext cx="54864" cy="338328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494" name="Picture 493" descr="FaCircleCheck_g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09360" y="5577840"/>
            <a:ext cx="210312" cy="210312"/>
          </a:xfrm>
          <a:prstGeom prst="rect">
            <a:avLst/>
          </a:prstGeom>
        </p:spPr>
      </p:pic>
      <p:sp>
        <p:nvSpPr>
          <p:cNvPr id="495" name="TextBox 494"/>
          <p:cNvSpPr txBox="1"/>
          <p:nvPr/>
        </p:nvSpPr>
        <p:spPr>
          <a:xfrm>
            <a:off x="6583680" y="5513831"/>
            <a:ext cx="5303520" cy="33832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950" b="1" i="0">
                <a:solidFill>
                  <a:srgbClr val="2E8B57"/>
                </a:solidFill>
                <a:latin typeface="Arial"/>
              </a:rPr>
              <a:t>Pluggable adapters: </a:t>
            </a:r>
            <a:r>
              <a:rPr sz="950" b="0" i="0">
                <a:solidFill>
                  <a:srgbClr val="1F2937"/>
                </a:solidFill>
                <a:latin typeface="Arial"/>
              </a:rPr>
              <a:t>spec-faithful mocks now, 'Source unavailable' + retry; MoUs on the roadmap</a:t>
            </a:r>
          </a:p>
        </p:txBody>
      </p:sp>
      <p:sp>
        <p:nvSpPr>
          <p:cNvPr id="496" name="Rounded Rectangle 495"/>
          <p:cNvSpPr/>
          <p:nvPr/>
        </p:nvSpPr>
        <p:spPr>
          <a:xfrm>
            <a:off x="274320" y="5897879"/>
            <a:ext cx="5760720" cy="338328"/>
          </a:xfrm>
          <a:prstGeom prst="roundRect">
            <a:avLst>
              <a:gd name="adj" fmla="val 13513"/>
            </a:avLst>
          </a:prstGeom>
          <a:solidFill>
            <a:srgbClr val="FB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97" name="Rectangle 496"/>
          <p:cNvSpPr/>
          <p:nvPr/>
        </p:nvSpPr>
        <p:spPr>
          <a:xfrm>
            <a:off x="274320" y="5897879"/>
            <a:ext cx="54864" cy="33832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498" name="Picture 497" descr="FaCodeBranch_r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11480" y="5961888"/>
            <a:ext cx="210312" cy="210312"/>
          </a:xfrm>
          <a:prstGeom prst="rect">
            <a:avLst/>
          </a:prstGeom>
        </p:spPr>
      </p:pic>
      <p:sp>
        <p:nvSpPr>
          <p:cNvPr id="499" name="TextBox 498"/>
          <p:cNvSpPr txBox="1"/>
          <p:nvPr/>
        </p:nvSpPr>
        <p:spPr>
          <a:xfrm>
            <a:off x="685800" y="5897879"/>
            <a:ext cx="5303520" cy="33832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950" b="1" i="0">
                <a:solidFill>
                  <a:srgbClr val="C0392B"/>
                </a:solidFill>
                <a:latin typeface="Arial"/>
              </a:rPr>
              <a:t>Rules change: </a:t>
            </a:r>
            <a:r>
              <a:rPr sz="950" b="0" i="0">
                <a:solidFill>
                  <a:srgbClr val="1F2937"/>
                </a:solidFill>
                <a:latin typeface="Arial"/>
              </a:rPr>
              <a:t>APH revisions; the VBSA Bill may replace AICTE norms</a:t>
            </a:r>
          </a:p>
        </p:txBody>
      </p:sp>
      <p:cxnSp>
        <p:nvCxnSpPr>
          <p:cNvPr id="500" name="Connector 499"/>
          <p:cNvCxnSpPr/>
          <p:nvPr/>
        </p:nvCxnSpPr>
        <p:spPr>
          <a:xfrm>
            <a:off x="6035040" y="6062471"/>
            <a:ext cx="137160" cy="0"/>
          </a:xfrm>
          <a:prstGeom prst="line">
            <a:avLst/>
          </a:prstGeom>
          <a:ln w="1587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1" name="Rounded Rectangle 500"/>
          <p:cNvSpPr/>
          <p:nvPr/>
        </p:nvSpPr>
        <p:spPr>
          <a:xfrm>
            <a:off x="6172200" y="5897879"/>
            <a:ext cx="5760720" cy="338328"/>
          </a:xfrm>
          <a:prstGeom prst="roundRect">
            <a:avLst>
              <a:gd name="adj" fmla="val 13513"/>
            </a:avLst>
          </a:prstGeom>
          <a:solidFill>
            <a:srgbClr val="E6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02" name="Rectangle 501"/>
          <p:cNvSpPr/>
          <p:nvPr/>
        </p:nvSpPr>
        <p:spPr>
          <a:xfrm>
            <a:off x="6172200" y="5897879"/>
            <a:ext cx="54864" cy="338328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503" name="Picture 502" descr="FaCircleCheck_g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09360" y="5961888"/>
            <a:ext cx="210312" cy="210312"/>
          </a:xfrm>
          <a:prstGeom prst="rect">
            <a:avLst/>
          </a:prstGeom>
        </p:spPr>
      </p:pic>
      <p:sp>
        <p:nvSpPr>
          <p:cNvPr id="504" name="TextBox 503"/>
          <p:cNvSpPr txBox="1"/>
          <p:nvPr/>
        </p:nvSpPr>
        <p:spPr>
          <a:xfrm>
            <a:off x="6583680" y="5897879"/>
            <a:ext cx="5303520" cy="33832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950" b="1" i="0">
                <a:solidFill>
                  <a:srgbClr val="2E8B57"/>
                </a:solidFill>
                <a:latin typeface="Arial"/>
              </a:rPr>
              <a:t>Versioned rule packs: </a:t>
            </a:r>
            <a:r>
              <a:rPr sz="950" b="0" i="0">
                <a:solidFill>
                  <a:srgbClr val="1F2937"/>
                </a:solidFill>
                <a:latin typeface="Arial"/>
              </a:rPr>
              <a:t>clause IDs per rule; dry-run on past applications before publishing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29"/>
          <p:cNvSpPr/>
          <p:nvPr/>
        </p:nvSpPr>
        <p:spPr>
          <a:xfrm>
            <a:off x="0" y="6354762"/>
            <a:ext cx="12192000" cy="5031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29"/>
          <p:cNvSpPr txBox="1">
            <a:spLocks noGrp="1"/>
          </p:cNvSpPr>
          <p:nvPr>
            <p:ph type="title"/>
          </p:nvPr>
        </p:nvSpPr>
        <p:spPr>
          <a:xfrm>
            <a:off x="609600" y="238125"/>
            <a:ext cx="109728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1E276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IMPACT AND BENEFITS</a:t>
            </a:r>
            <a:endParaRPr sz="3200" b="1">
              <a:solidFill>
                <a:srgbClr val="1E276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0" name="Google Shape;490;p2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lang="en-US" b="1">
                <a:solidFill>
                  <a:srgbClr val="FFFFFF"/>
                </a:solidFill>
              </a:rPr>
              <a:t>5</a:t>
            </a:r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491" name="Google Shape;491;p29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</a:t>
            </a:r>
            <a:endParaRPr sz="1200" b="0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492" name="Google Shape;492;p29" descr="Your startup LOGO"/>
          <p:cNvSpPr/>
          <p:nvPr/>
        </p:nvSpPr>
        <p:spPr>
          <a:xfrm>
            <a:off x="329773" y="252246"/>
            <a:ext cx="1251900" cy="8073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Citadel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93" name="Google Shape;493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58404" y="16423"/>
            <a:ext cx="2113821" cy="990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94" name="Picture 493" descr="FaRoute_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1033272"/>
            <a:ext cx="219456" cy="219456"/>
          </a:xfrm>
          <a:prstGeom prst="rect">
            <a:avLst/>
          </a:prstGeom>
        </p:spPr>
      </p:pic>
      <p:sp>
        <p:nvSpPr>
          <p:cNvPr id="495" name="TextBox 494"/>
          <p:cNvSpPr txBox="1"/>
          <p:nvPr/>
        </p:nvSpPr>
        <p:spPr>
          <a:xfrm>
            <a:off x="548640" y="1005840"/>
            <a:ext cx="113842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Arial"/>
              </a:rPr>
              <a:t>Where DossierGraph plugs into AICTE's approval chain (APH 2024-27)</a:t>
            </a:r>
          </a:p>
        </p:txBody>
      </p:sp>
      <p:sp>
        <p:nvSpPr>
          <p:cNvPr id="496" name="Rounded Rectangle 495"/>
          <p:cNvSpPr/>
          <p:nvPr/>
        </p:nvSpPr>
        <p:spPr>
          <a:xfrm>
            <a:off x="274320" y="1344168"/>
            <a:ext cx="1517904" cy="566928"/>
          </a:xfrm>
          <a:prstGeom prst="roundRect">
            <a:avLst>
              <a:gd name="adj" fmla="val 16129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97" name="TextBox 496"/>
          <p:cNvSpPr txBox="1"/>
          <p:nvPr/>
        </p:nvSpPr>
        <p:spPr>
          <a:xfrm>
            <a:off x="274320" y="1344168"/>
            <a:ext cx="1517904" cy="56692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rial"/>
              </a:rPr>
              <a:t>Institution applies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Arial"/>
              </a:rPr>
              <a:t>NSWS / AICTE portal</a:t>
            </a:r>
          </a:p>
        </p:txBody>
      </p:sp>
      <p:cxnSp>
        <p:nvCxnSpPr>
          <p:cNvPr id="498" name="Connector 497"/>
          <p:cNvCxnSpPr/>
          <p:nvPr/>
        </p:nvCxnSpPr>
        <p:spPr>
          <a:xfrm>
            <a:off x="1792224" y="1627632"/>
            <a:ext cx="173736" cy="0"/>
          </a:xfrm>
          <a:prstGeom prst="line">
            <a:avLst/>
          </a:prstGeom>
          <a:ln w="1905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9" name="Rounded Rectangle 498"/>
          <p:cNvSpPr/>
          <p:nvPr/>
        </p:nvSpPr>
        <p:spPr>
          <a:xfrm>
            <a:off x="1965960" y="1344168"/>
            <a:ext cx="1517904" cy="566928"/>
          </a:xfrm>
          <a:prstGeom prst="roundRect">
            <a:avLst>
              <a:gd name="adj" fmla="val 16129"/>
            </a:avLst>
          </a:prstGeom>
          <a:solidFill>
            <a:srgbClr val="E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00" name="TextBox 499"/>
          <p:cNvSpPr txBox="1"/>
          <p:nvPr/>
        </p:nvSpPr>
        <p:spPr>
          <a:xfrm>
            <a:off x="1965960" y="1344168"/>
            <a:ext cx="1517904" cy="56692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rial"/>
              </a:rPr>
              <a:t>DossierGraph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Arial"/>
              </a:rPr>
              <a:t>AI pre-scrutiny</a:t>
            </a:r>
          </a:p>
        </p:txBody>
      </p:sp>
      <p:cxnSp>
        <p:nvCxnSpPr>
          <p:cNvPr id="501" name="Connector 500"/>
          <p:cNvCxnSpPr/>
          <p:nvPr/>
        </p:nvCxnSpPr>
        <p:spPr>
          <a:xfrm>
            <a:off x="3483863" y="1627632"/>
            <a:ext cx="173736" cy="0"/>
          </a:xfrm>
          <a:prstGeom prst="line">
            <a:avLst/>
          </a:prstGeom>
          <a:ln w="1905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2" name="Rounded Rectangle 501"/>
          <p:cNvSpPr/>
          <p:nvPr/>
        </p:nvSpPr>
        <p:spPr>
          <a:xfrm>
            <a:off x="3657599" y="1344168"/>
            <a:ext cx="1517904" cy="566928"/>
          </a:xfrm>
          <a:prstGeom prst="roundRect">
            <a:avLst>
              <a:gd name="adj" fmla="val 16129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03" name="TextBox 502"/>
          <p:cNvSpPr txBox="1"/>
          <p:nvPr/>
        </p:nvSpPr>
        <p:spPr>
          <a:xfrm>
            <a:off x="3657599" y="1344168"/>
            <a:ext cx="1517904" cy="56692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rial"/>
              </a:rPr>
              <a:t>Scrutiny Committee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Arial"/>
              </a:rPr>
              <a:t>zero-deficiency check</a:t>
            </a:r>
          </a:p>
        </p:txBody>
      </p:sp>
      <p:cxnSp>
        <p:nvCxnSpPr>
          <p:cNvPr id="504" name="Connector 503"/>
          <p:cNvCxnSpPr/>
          <p:nvPr/>
        </p:nvCxnSpPr>
        <p:spPr>
          <a:xfrm>
            <a:off x="5175503" y="1627632"/>
            <a:ext cx="173737" cy="0"/>
          </a:xfrm>
          <a:prstGeom prst="line">
            <a:avLst/>
          </a:prstGeom>
          <a:ln w="1905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5" name="Rounded Rectangle 504"/>
          <p:cNvSpPr/>
          <p:nvPr/>
        </p:nvSpPr>
        <p:spPr>
          <a:xfrm>
            <a:off x="5349240" y="1344168"/>
            <a:ext cx="1517904" cy="566928"/>
          </a:xfrm>
          <a:prstGeom prst="roundRect">
            <a:avLst>
              <a:gd name="adj" fmla="val 16129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06" name="TextBox 505"/>
          <p:cNvSpPr txBox="1"/>
          <p:nvPr/>
        </p:nvSpPr>
        <p:spPr>
          <a:xfrm>
            <a:off x="5349240" y="1344168"/>
            <a:ext cx="1517904" cy="56692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rial"/>
              </a:rPr>
              <a:t>Expert Visit Committee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Arial"/>
              </a:rPr>
              <a:t>offline or online</a:t>
            </a:r>
          </a:p>
        </p:txBody>
      </p:sp>
      <p:cxnSp>
        <p:nvCxnSpPr>
          <p:cNvPr id="507" name="Connector 506"/>
          <p:cNvCxnSpPr/>
          <p:nvPr/>
        </p:nvCxnSpPr>
        <p:spPr>
          <a:xfrm>
            <a:off x="6867144" y="1627632"/>
            <a:ext cx="173736" cy="0"/>
          </a:xfrm>
          <a:prstGeom prst="line">
            <a:avLst/>
          </a:prstGeom>
          <a:ln w="1905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8" name="Rounded Rectangle 507"/>
          <p:cNvSpPr/>
          <p:nvPr/>
        </p:nvSpPr>
        <p:spPr>
          <a:xfrm>
            <a:off x="7040879" y="1344168"/>
            <a:ext cx="1517904" cy="566928"/>
          </a:xfrm>
          <a:prstGeom prst="roundRect">
            <a:avLst>
              <a:gd name="adj" fmla="val 16129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09" name="TextBox 508"/>
          <p:cNvSpPr txBox="1"/>
          <p:nvPr/>
        </p:nvSpPr>
        <p:spPr>
          <a:xfrm>
            <a:off x="7040879" y="1344168"/>
            <a:ext cx="1517904" cy="56692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rial"/>
              </a:rPr>
              <a:t>Standing Hearing Cttee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Arial"/>
              </a:rPr>
              <a:t>show-cause replies</a:t>
            </a:r>
          </a:p>
        </p:txBody>
      </p:sp>
      <p:cxnSp>
        <p:nvCxnSpPr>
          <p:cNvPr id="510" name="Connector 509"/>
          <p:cNvCxnSpPr/>
          <p:nvPr/>
        </p:nvCxnSpPr>
        <p:spPr>
          <a:xfrm>
            <a:off x="8558784" y="1627632"/>
            <a:ext cx="173735" cy="0"/>
          </a:xfrm>
          <a:prstGeom prst="line">
            <a:avLst/>
          </a:prstGeom>
          <a:ln w="1905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1" name="Rounded Rectangle 510"/>
          <p:cNvSpPr/>
          <p:nvPr/>
        </p:nvSpPr>
        <p:spPr>
          <a:xfrm>
            <a:off x="8732520" y="1344168"/>
            <a:ext cx="1517904" cy="566928"/>
          </a:xfrm>
          <a:prstGeom prst="roundRect">
            <a:avLst>
              <a:gd name="adj" fmla="val 16129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12" name="TextBox 511"/>
          <p:cNvSpPr txBox="1"/>
          <p:nvPr/>
        </p:nvSpPr>
        <p:spPr>
          <a:xfrm>
            <a:off x="8732520" y="1344168"/>
            <a:ext cx="1517904" cy="56692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rial"/>
              </a:rPr>
              <a:t>Executive Committee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Arial"/>
              </a:rPr>
              <a:t>LoA / LoR</a:t>
            </a:r>
          </a:p>
        </p:txBody>
      </p:sp>
      <p:cxnSp>
        <p:nvCxnSpPr>
          <p:cNvPr id="513" name="Connector 512"/>
          <p:cNvCxnSpPr/>
          <p:nvPr/>
        </p:nvCxnSpPr>
        <p:spPr>
          <a:xfrm>
            <a:off x="10250424" y="1627632"/>
            <a:ext cx="173736" cy="0"/>
          </a:xfrm>
          <a:prstGeom prst="line">
            <a:avLst/>
          </a:prstGeom>
          <a:ln w="1905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4" name="Rounded Rectangle 513"/>
          <p:cNvSpPr/>
          <p:nvPr/>
        </p:nvSpPr>
        <p:spPr>
          <a:xfrm>
            <a:off x="10424160" y="1344168"/>
            <a:ext cx="1517904" cy="566928"/>
          </a:xfrm>
          <a:prstGeom prst="roundRect">
            <a:avLst>
              <a:gd name="adj" fmla="val 16129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15" name="TextBox 514"/>
          <p:cNvSpPr txBox="1"/>
          <p:nvPr/>
        </p:nvSpPr>
        <p:spPr>
          <a:xfrm>
            <a:off x="10424160" y="1344168"/>
            <a:ext cx="1517904" cy="56692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rial"/>
              </a:rPr>
              <a:t>Standing Appellate Cttee</a:t>
            </a:r>
          </a:p>
          <a:p>
            <a:pPr algn="ctr"/>
            <a:r>
              <a:rPr sz="800" b="0" i="0">
                <a:solidFill>
                  <a:srgbClr val="FFFFFF"/>
                </a:solidFill>
                <a:latin typeface="Arial"/>
              </a:rPr>
              <a:t>appeal within 7 days</a:t>
            </a:r>
          </a:p>
        </p:txBody>
      </p:sp>
      <p:sp>
        <p:nvSpPr>
          <p:cNvPr id="516" name="TextBox 515"/>
          <p:cNvSpPr txBox="1"/>
          <p:nvPr/>
        </p:nvSpPr>
        <p:spPr>
          <a:xfrm>
            <a:off x="1965960" y="1938528"/>
            <a:ext cx="338328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50" b="1" i="0">
                <a:solidFill>
                  <a:srgbClr val="E8772E"/>
                </a:solidFill>
                <a:latin typeface="Arial"/>
              </a:rPr>
              <a:t>▲ flags + evidence to Scrutiny  ·  'verify on site' list to the EVC</a:t>
            </a:r>
          </a:p>
        </p:txBody>
      </p:sp>
      <p:pic>
        <p:nvPicPr>
          <p:cNvPr id="517" name="Picture 516" descr="FaUsers_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2267712"/>
            <a:ext cx="219456" cy="219456"/>
          </a:xfrm>
          <a:prstGeom prst="rect">
            <a:avLst/>
          </a:prstGeom>
        </p:spPr>
      </p:pic>
      <p:sp>
        <p:nvSpPr>
          <p:cNvPr id="518" name="TextBox 517"/>
          <p:cNvSpPr txBox="1"/>
          <p:nvPr/>
        </p:nvSpPr>
        <p:spPr>
          <a:xfrm>
            <a:off x="548640" y="224028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1B2A4A"/>
                </a:solidFill>
                <a:latin typeface="Arial"/>
              </a:rPr>
              <a:t>Potential Impact on Target Audience</a:t>
            </a:r>
          </a:p>
        </p:txBody>
      </p:sp>
      <p:sp>
        <p:nvSpPr>
          <p:cNvPr id="519" name="Rounded Rectangle 518"/>
          <p:cNvSpPr/>
          <p:nvPr/>
        </p:nvSpPr>
        <p:spPr>
          <a:xfrm>
            <a:off x="274320" y="2578608"/>
            <a:ext cx="3749039" cy="859536"/>
          </a:xfrm>
          <a:prstGeom prst="roundRect">
            <a:avLst>
              <a:gd name="adj" fmla="val 10638"/>
            </a:avLst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20" name="Oval 519"/>
          <p:cNvSpPr/>
          <p:nvPr/>
        </p:nvSpPr>
        <p:spPr>
          <a:xfrm>
            <a:off x="365760" y="2761488"/>
            <a:ext cx="475488" cy="47548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521" name="Picture 520" descr="FaUserTie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367" y="2866095"/>
            <a:ext cx="266273" cy="266273"/>
          </a:xfrm>
          <a:prstGeom prst="rect">
            <a:avLst/>
          </a:prstGeom>
        </p:spPr>
      </p:pic>
      <p:sp>
        <p:nvSpPr>
          <p:cNvPr id="522" name="TextBox 521"/>
          <p:cNvSpPr txBox="1"/>
          <p:nvPr/>
        </p:nvSpPr>
        <p:spPr>
          <a:xfrm>
            <a:off x="932688" y="2633472"/>
            <a:ext cx="301752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50" b="1" i="0">
                <a:solidFill>
                  <a:srgbClr val="1B2A4A"/>
                </a:solidFill>
                <a:latin typeface="Arial"/>
              </a:rPr>
              <a:t>AICTE scrutiny officers</a:t>
            </a:r>
          </a:p>
        </p:txBody>
      </p:sp>
      <p:sp>
        <p:nvSpPr>
          <p:cNvPr id="523" name="TextBox 522"/>
          <p:cNvSpPr txBox="1"/>
          <p:nvPr/>
        </p:nvSpPr>
        <p:spPr>
          <a:xfrm>
            <a:off x="932688" y="2889503"/>
            <a:ext cx="3017520" cy="53035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Arial"/>
              </a:rPr>
              <a:t>Severity-ranked queue; every flag shows the APH clause and the evidence crop</a:t>
            </a:r>
          </a:p>
        </p:txBody>
      </p:sp>
      <p:sp>
        <p:nvSpPr>
          <p:cNvPr id="524" name="Rounded Rectangle 523"/>
          <p:cNvSpPr/>
          <p:nvPr/>
        </p:nvSpPr>
        <p:spPr>
          <a:xfrm>
            <a:off x="274320" y="3511296"/>
            <a:ext cx="3749039" cy="859536"/>
          </a:xfrm>
          <a:prstGeom prst="roundRect">
            <a:avLst>
              <a:gd name="adj" fmla="val 10638"/>
            </a:avLst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25" name="Oval 524"/>
          <p:cNvSpPr/>
          <p:nvPr/>
        </p:nvSpPr>
        <p:spPr>
          <a:xfrm>
            <a:off x="365760" y="3694176"/>
            <a:ext cx="475488" cy="475488"/>
          </a:xfrm>
          <a:prstGeom prst="ellipse">
            <a:avLst/>
          </a:prstGeom>
          <a:solidFill>
            <a:srgbClr val="E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526" name="Picture 525" descr="FaBuildingColumns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367" y="3798783"/>
            <a:ext cx="266273" cy="266273"/>
          </a:xfrm>
          <a:prstGeom prst="rect">
            <a:avLst/>
          </a:prstGeom>
        </p:spPr>
      </p:pic>
      <p:sp>
        <p:nvSpPr>
          <p:cNvPr id="527" name="TextBox 526"/>
          <p:cNvSpPr txBox="1"/>
          <p:nvPr/>
        </p:nvSpPr>
        <p:spPr>
          <a:xfrm>
            <a:off x="932688" y="3566160"/>
            <a:ext cx="301752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50" b="1" i="0">
                <a:solidFill>
                  <a:srgbClr val="E8772E"/>
                </a:solidFill>
                <a:latin typeface="Arial"/>
              </a:rPr>
              <a:t>Institutions</a:t>
            </a:r>
          </a:p>
        </p:txBody>
      </p:sp>
      <p:sp>
        <p:nvSpPr>
          <p:cNvPr id="528" name="TextBox 527"/>
          <p:cNvSpPr txBox="1"/>
          <p:nvPr/>
        </p:nvSpPr>
        <p:spPr>
          <a:xfrm>
            <a:off x="932688" y="3822191"/>
            <a:ext cx="3017520" cy="53035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Arial"/>
              </a:rPr>
              <a:t>Pre-check before submission: fix deficiencies first, fewer re-scrutiny rounds</a:t>
            </a:r>
          </a:p>
        </p:txBody>
      </p:sp>
      <p:sp>
        <p:nvSpPr>
          <p:cNvPr id="529" name="Rounded Rectangle 528"/>
          <p:cNvSpPr/>
          <p:nvPr/>
        </p:nvSpPr>
        <p:spPr>
          <a:xfrm>
            <a:off x="274320" y="4443983"/>
            <a:ext cx="3749039" cy="859536"/>
          </a:xfrm>
          <a:prstGeom prst="roundRect">
            <a:avLst>
              <a:gd name="adj" fmla="val 10638"/>
            </a:avLst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30" name="Oval 529"/>
          <p:cNvSpPr/>
          <p:nvPr/>
        </p:nvSpPr>
        <p:spPr>
          <a:xfrm>
            <a:off x="365760" y="4626864"/>
            <a:ext cx="475488" cy="47548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531" name="Picture 530" descr="FaClipboardCheck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0367" y="4731471"/>
            <a:ext cx="266273" cy="266273"/>
          </a:xfrm>
          <a:prstGeom prst="rect">
            <a:avLst/>
          </a:prstGeom>
        </p:spPr>
      </p:pic>
      <p:sp>
        <p:nvSpPr>
          <p:cNvPr id="532" name="TextBox 531"/>
          <p:cNvSpPr txBox="1"/>
          <p:nvPr/>
        </p:nvSpPr>
        <p:spPr>
          <a:xfrm>
            <a:off x="932688" y="4498847"/>
            <a:ext cx="301752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50" b="1" i="0">
                <a:solidFill>
                  <a:srgbClr val="1B2A4A"/>
                </a:solidFill>
                <a:latin typeface="Arial"/>
              </a:rPr>
              <a:t>Expert Visit Committees</a:t>
            </a:r>
          </a:p>
        </p:txBody>
      </p:sp>
      <p:sp>
        <p:nvSpPr>
          <p:cNvPr id="533" name="TextBox 532"/>
          <p:cNvSpPr txBox="1"/>
          <p:nvPr/>
        </p:nvSpPr>
        <p:spPr>
          <a:xfrm>
            <a:off x="932688" y="4754879"/>
            <a:ext cx="3017520" cy="53035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Arial"/>
              </a:rPr>
              <a:t>A 'verify on site' list of only what could not be confirmed remotely</a:t>
            </a:r>
          </a:p>
        </p:txBody>
      </p:sp>
      <p:sp>
        <p:nvSpPr>
          <p:cNvPr id="534" name="Rounded Rectangle 533"/>
          <p:cNvSpPr/>
          <p:nvPr/>
        </p:nvSpPr>
        <p:spPr>
          <a:xfrm>
            <a:off x="274320" y="5376672"/>
            <a:ext cx="3749039" cy="859536"/>
          </a:xfrm>
          <a:prstGeom prst="roundRect">
            <a:avLst>
              <a:gd name="adj" fmla="val 10638"/>
            </a:avLst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35" name="Oval 534"/>
          <p:cNvSpPr/>
          <p:nvPr/>
        </p:nvSpPr>
        <p:spPr>
          <a:xfrm>
            <a:off x="365760" y="5559552"/>
            <a:ext cx="475488" cy="475488"/>
          </a:xfrm>
          <a:prstGeom prst="ellipse">
            <a:avLst/>
          </a:prstGeom>
          <a:solidFill>
            <a:srgbClr val="E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536" name="Picture 535" descr="FaUserGraduate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0367" y="5664159"/>
            <a:ext cx="266273" cy="266273"/>
          </a:xfrm>
          <a:prstGeom prst="rect">
            <a:avLst/>
          </a:prstGeom>
        </p:spPr>
      </p:pic>
      <p:sp>
        <p:nvSpPr>
          <p:cNvPr id="537" name="TextBox 536"/>
          <p:cNvSpPr txBox="1"/>
          <p:nvPr/>
        </p:nvSpPr>
        <p:spPr>
          <a:xfrm>
            <a:off x="932688" y="5431536"/>
            <a:ext cx="301752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50" b="1" i="0">
                <a:solidFill>
                  <a:srgbClr val="E8772E"/>
                </a:solidFill>
                <a:latin typeface="Arial"/>
              </a:rPr>
              <a:t>Students and parents</a:t>
            </a:r>
          </a:p>
        </p:txBody>
      </p:sp>
      <p:sp>
        <p:nvSpPr>
          <p:cNvPr id="538" name="TextBox 537"/>
          <p:cNvSpPr txBox="1"/>
          <p:nvPr/>
        </p:nvSpPr>
        <p:spPr>
          <a:xfrm>
            <a:off x="932688" y="5687568"/>
            <a:ext cx="3017520" cy="53035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Arial"/>
              </a:rPr>
              <a:t>Approved institutions' land, building, safety and faculty claims checked</a:t>
            </a:r>
          </a:p>
        </p:txBody>
      </p:sp>
      <p:pic>
        <p:nvPicPr>
          <p:cNvPr id="539" name="Picture 538" descr="FaCircleCheck_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60520" y="2267712"/>
            <a:ext cx="219456" cy="219456"/>
          </a:xfrm>
          <a:prstGeom prst="rect">
            <a:avLst/>
          </a:prstGeom>
        </p:spPr>
      </p:pic>
      <p:sp>
        <p:nvSpPr>
          <p:cNvPr id="540" name="TextBox 539"/>
          <p:cNvSpPr txBox="1"/>
          <p:nvPr/>
        </p:nvSpPr>
        <p:spPr>
          <a:xfrm>
            <a:off x="4434840" y="2240280"/>
            <a:ext cx="3429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1B2A4A"/>
                </a:solidFill>
                <a:latin typeface="Arial"/>
              </a:rPr>
              <a:t>Benefits of the Solution</a:t>
            </a:r>
          </a:p>
        </p:txBody>
      </p:sp>
      <p:sp>
        <p:nvSpPr>
          <p:cNvPr id="541" name="Rounded Rectangle 540"/>
          <p:cNvSpPr/>
          <p:nvPr/>
        </p:nvSpPr>
        <p:spPr>
          <a:xfrm>
            <a:off x="4160520" y="2578608"/>
            <a:ext cx="3703320" cy="685800"/>
          </a:xfrm>
          <a:prstGeom prst="roundRect">
            <a:avLst>
              <a:gd name="adj" fmla="val 13333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42" name="Oval 541"/>
          <p:cNvSpPr/>
          <p:nvPr/>
        </p:nvSpPr>
        <p:spPr>
          <a:xfrm>
            <a:off x="4251959" y="2715768"/>
            <a:ext cx="402336" cy="402336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543" name="Picture 542" descr="FaUsers_w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40473" y="2804281"/>
            <a:ext cx="225308" cy="225308"/>
          </a:xfrm>
          <a:prstGeom prst="rect">
            <a:avLst/>
          </a:prstGeom>
        </p:spPr>
      </p:pic>
      <p:sp>
        <p:nvSpPr>
          <p:cNvPr id="544" name="TextBox 543"/>
          <p:cNvSpPr txBox="1"/>
          <p:nvPr/>
        </p:nvSpPr>
        <p:spPr>
          <a:xfrm>
            <a:off x="4727448" y="2606039"/>
            <a:ext cx="3090672" cy="63093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900" b="1" i="0">
                <a:solidFill>
                  <a:srgbClr val="2E8B57"/>
                </a:solidFill>
                <a:latin typeface="Arial"/>
              </a:rPr>
              <a:t>Social</a:t>
            </a:r>
          </a:p>
          <a:p>
            <a:pPr algn="l"/>
            <a:r>
              <a:rPr sz="900" b="0" i="0">
                <a:solidFill>
                  <a:srgbClr val="1F2937"/>
                </a:solidFill>
                <a:latin typeface="Arial"/>
              </a:rPr>
              <a:t>Students protected from institutions with unverified infrastructure or faculty claims</a:t>
            </a:r>
          </a:p>
        </p:txBody>
      </p:sp>
      <p:sp>
        <p:nvSpPr>
          <p:cNvPr id="545" name="Rounded Rectangle 544"/>
          <p:cNvSpPr/>
          <p:nvPr/>
        </p:nvSpPr>
        <p:spPr>
          <a:xfrm>
            <a:off x="4160520" y="3328415"/>
            <a:ext cx="3703320" cy="685800"/>
          </a:xfrm>
          <a:prstGeom prst="roundRect">
            <a:avLst>
              <a:gd name="adj" fmla="val 13333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46" name="Oval 545"/>
          <p:cNvSpPr/>
          <p:nvPr/>
        </p:nvSpPr>
        <p:spPr>
          <a:xfrm>
            <a:off x="4251959" y="3465575"/>
            <a:ext cx="402336" cy="402336"/>
          </a:xfrm>
          <a:prstGeom prst="ellipse">
            <a:avLst/>
          </a:prstGeom>
          <a:solidFill>
            <a:srgbClr val="E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547" name="Picture 546" descr="FaIndianRupeeSign_w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340473" y="3554089"/>
            <a:ext cx="225308" cy="225308"/>
          </a:xfrm>
          <a:prstGeom prst="rect">
            <a:avLst/>
          </a:prstGeom>
        </p:spPr>
      </p:pic>
      <p:sp>
        <p:nvSpPr>
          <p:cNvPr id="548" name="TextBox 547"/>
          <p:cNvSpPr txBox="1"/>
          <p:nvPr/>
        </p:nvSpPr>
        <p:spPr>
          <a:xfrm>
            <a:off x="4727448" y="3355847"/>
            <a:ext cx="3090672" cy="63093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900" b="1" i="0">
                <a:solidFill>
                  <a:srgbClr val="E8772E"/>
                </a:solidFill>
                <a:latin typeface="Arial"/>
              </a:rPr>
              <a:t>Economic</a:t>
            </a:r>
          </a:p>
          <a:p>
            <a:pPr algn="l"/>
            <a:r>
              <a:rPr sz="900" b="0" i="0">
                <a:solidFill>
                  <a:srgbClr val="1F2937"/>
                </a:solidFill>
                <a:latin typeface="Arial"/>
              </a:rPr>
              <a:t>Officer and inspection hours spent on real issues, not routine re-checks</a:t>
            </a:r>
          </a:p>
        </p:txBody>
      </p:sp>
      <p:sp>
        <p:nvSpPr>
          <p:cNvPr id="549" name="Rounded Rectangle 548"/>
          <p:cNvSpPr/>
          <p:nvPr/>
        </p:nvSpPr>
        <p:spPr>
          <a:xfrm>
            <a:off x="4160520" y="4078224"/>
            <a:ext cx="3703320" cy="685800"/>
          </a:xfrm>
          <a:prstGeom prst="roundRect">
            <a:avLst>
              <a:gd name="adj" fmla="val 13333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50" name="Oval 549"/>
          <p:cNvSpPr/>
          <p:nvPr/>
        </p:nvSpPr>
        <p:spPr>
          <a:xfrm>
            <a:off x="4251959" y="4215384"/>
            <a:ext cx="402336" cy="402336"/>
          </a:xfrm>
          <a:prstGeom prst="ellipse">
            <a:avLst/>
          </a:prstGeom>
          <a:solidFill>
            <a:srgbClr val="1F5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551" name="Picture 550" descr="FaGears_w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40473" y="4303897"/>
            <a:ext cx="225308" cy="225308"/>
          </a:xfrm>
          <a:prstGeom prst="rect">
            <a:avLst/>
          </a:prstGeom>
        </p:spPr>
      </p:pic>
      <p:sp>
        <p:nvSpPr>
          <p:cNvPr id="552" name="TextBox 551"/>
          <p:cNvSpPr txBox="1"/>
          <p:nvPr/>
        </p:nvSpPr>
        <p:spPr>
          <a:xfrm>
            <a:off x="4727448" y="4105656"/>
            <a:ext cx="3090672" cy="63093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900" b="1" i="0">
                <a:solidFill>
                  <a:srgbClr val="1F5FAD"/>
                </a:solidFill>
                <a:latin typeface="Arial"/>
              </a:rPr>
              <a:t>Operational</a:t>
            </a:r>
          </a:p>
          <a:p>
            <a:pPr algn="l"/>
            <a:r>
              <a:rPr sz="900" b="0" i="0">
                <a:solidFill>
                  <a:srgbClr val="1F2937"/>
                </a:solidFill>
                <a:latin typeface="Arial"/>
              </a:rPr>
              <a:t>Deficiencies caught before scrutiny; fewer back-and-forth cycles</a:t>
            </a:r>
          </a:p>
        </p:txBody>
      </p:sp>
      <p:sp>
        <p:nvSpPr>
          <p:cNvPr id="553" name="Rounded Rectangle 552"/>
          <p:cNvSpPr/>
          <p:nvPr/>
        </p:nvSpPr>
        <p:spPr>
          <a:xfrm>
            <a:off x="4160520" y="4828031"/>
            <a:ext cx="3703320" cy="685800"/>
          </a:xfrm>
          <a:prstGeom prst="roundRect">
            <a:avLst>
              <a:gd name="adj" fmla="val 13333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54" name="Oval 553"/>
          <p:cNvSpPr/>
          <p:nvPr/>
        </p:nvSpPr>
        <p:spPr>
          <a:xfrm>
            <a:off x="4251959" y="4965192"/>
            <a:ext cx="402336" cy="402336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555" name="Picture 554" descr="FaGavel_w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340473" y="5053705"/>
            <a:ext cx="225308" cy="225308"/>
          </a:xfrm>
          <a:prstGeom prst="rect">
            <a:avLst/>
          </a:prstGeom>
        </p:spPr>
      </p:pic>
      <p:sp>
        <p:nvSpPr>
          <p:cNvPr id="556" name="TextBox 555"/>
          <p:cNvSpPr txBox="1"/>
          <p:nvPr/>
        </p:nvSpPr>
        <p:spPr>
          <a:xfrm>
            <a:off x="4727448" y="4855464"/>
            <a:ext cx="3090672" cy="63093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900" b="1" i="0">
                <a:solidFill>
                  <a:srgbClr val="6A4C93"/>
                </a:solidFill>
                <a:latin typeface="Arial"/>
              </a:rPr>
              <a:t>Governance</a:t>
            </a:r>
          </a:p>
          <a:p>
            <a:pPr algn="l"/>
            <a:r>
              <a:rPr sz="900" b="0" i="0">
                <a:solidFill>
                  <a:srgbClr val="1F2937"/>
                </a:solidFill>
                <a:latin typeface="Arial"/>
              </a:rPr>
              <a:t>Same versioned rules for every application; tamper-evident trail for appeals and RTI</a:t>
            </a:r>
          </a:p>
        </p:txBody>
      </p:sp>
      <p:sp>
        <p:nvSpPr>
          <p:cNvPr id="557" name="Rounded Rectangle 556"/>
          <p:cNvSpPr/>
          <p:nvPr/>
        </p:nvSpPr>
        <p:spPr>
          <a:xfrm>
            <a:off x="4160520" y="5577840"/>
            <a:ext cx="3703320" cy="685800"/>
          </a:xfrm>
          <a:prstGeom prst="roundRect">
            <a:avLst>
              <a:gd name="adj" fmla="val 13333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58" name="Oval 557"/>
          <p:cNvSpPr/>
          <p:nvPr/>
        </p:nvSpPr>
        <p:spPr>
          <a:xfrm>
            <a:off x="4251959" y="5715000"/>
            <a:ext cx="402336" cy="402336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559" name="Picture 558" descr="FaLeaf_w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340473" y="5803513"/>
            <a:ext cx="225308" cy="225308"/>
          </a:xfrm>
          <a:prstGeom prst="rect">
            <a:avLst/>
          </a:prstGeom>
        </p:spPr>
      </p:pic>
      <p:sp>
        <p:nvSpPr>
          <p:cNvPr id="560" name="TextBox 559"/>
          <p:cNvSpPr txBox="1"/>
          <p:nvPr/>
        </p:nvSpPr>
        <p:spPr>
          <a:xfrm>
            <a:off x="4727448" y="5605272"/>
            <a:ext cx="3090672" cy="63093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900" b="1" i="0">
                <a:solidFill>
                  <a:srgbClr val="2E8B57"/>
                </a:solidFill>
                <a:latin typeface="Arial"/>
              </a:rPr>
              <a:t>Environmental</a:t>
            </a:r>
          </a:p>
          <a:p>
            <a:pPr algn="l"/>
            <a:r>
              <a:rPr sz="900" b="0" i="0">
                <a:solidFill>
                  <a:srgbClr val="1F2937"/>
                </a:solidFill>
                <a:latin typeface="Arial"/>
              </a:rPr>
              <a:t>Digital-first verification; fewer physical re-inspection trips</a:t>
            </a:r>
          </a:p>
        </p:txBody>
      </p:sp>
      <p:pic>
        <p:nvPicPr>
          <p:cNvPr id="561" name="Picture 560" descr="FaChartLine_s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01000" y="2267712"/>
            <a:ext cx="219456" cy="219456"/>
          </a:xfrm>
          <a:prstGeom prst="rect">
            <a:avLst/>
          </a:prstGeom>
        </p:spPr>
      </p:pic>
      <p:sp>
        <p:nvSpPr>
          <p:cNvPr id="562" name="TextBox 561"/>
          <p:cNvSpPr txBox="1"/>
          <p:nvPr/>
        </p:nvSpPr>
        <p:spPr>
          <a:xfrm>
            <a:off x="8275320" y="224028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1B2A4A"/>
                </a:solidFill>
                <a:latin typeface="Arial"/>
              </a:rPr>
              <a:t>Today vs. with DossierGraph</a:t>
            </a:r>
          </a:p>
        </p:txBody>
      </p:sp>
      <p:graphicFrame>
        <p:nvGraphicFramePr>
          <p:cNvPr id="563" name="Table 562"/>
          <p:cNvGraphicFramePr>
            <a:graphicFrameLocks noGrp="1"/>
          </p:cNvGraphicFramePr>
          <p:nvPr/>
        </p:nvGraphicFramePr>
        <p:xfrm>
          <a:off x="8001000" y="2578608"/>
          <a:ext cx="3931920" cy="235915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Today</a:t>
                      </a:r>
                    </a:p>
                  </a:txBody>
                  <a:tcPr marL="45720" marR="45720" marT="18288" marB="18288" anchor="ctr">
                    <a:solidFill>
                      <a:srgbClr val="6B728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With DossierGraph</a:t>
                      </a:r>
                    </a:p>
                  </a:txBody>
                  <a:tcPr marL="45720" marR="45720" marT="18288" marB="18288" anchor="ctr">
                    <a:solidFill>
                      <a:srgbClr val="2E8B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Arial"/>
                        </a:rPr>
                        <a:t>Documents trusted on self-disclosure</a:t>
                      </a:r>
                    </a:p>
                  </a:txBody>
                  <a:tcPr marL="45720" marR="45720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Arial"/>
                        </a:rPr>
                        <a:t>Cross-checked against issuers and each other</a:t>
                      </a:r>
                    </a:p>
                  </a:txBody>
                  <a:tcPr marL="45720" marR="45720" marT="18288" marB="18288" anchor="ctr">
                    <a:solidFill>
                      <a:srgbClr val="E6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Arial"/>
                        </a:rPr>
                        <a:t>Deficiencies fixed up to 6 months after EoA</a:t>
                      </a:r>
                    </a:p>
                  </a:txBody>
                  <a:tcPr marL="45720" marR="45720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Arial"/>
                        </a:rPr>
                        <a:t>Fixed before submission via pre-check</a:t>
                      </a:r>
                    </a:p>
                  </a:txBody>
                  <a:tcPr marL="45720" marR="45720" marT="18288" marB="18288" anchor="ctr">
                    <a:solidFill>
                      <a:srgbClr val="E6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Arial"/>
                        </a:rPr>
                        <a:t>Fraud found by random EVC visits</a:t>
                      </a:r>
                    </a:p>
                  </a:txBody>
                  <a:tcPr marL="45720" marR="45720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Arial"/>
                        </a:rPr>
                        <a:t>Every dossier screened; indicators with evidence</a:t>
                      </a:r>
                    </a:p>
                  </a:txBody>
                  <a:tcPr marL="45720" marR="45720" marT="18288" marB="18288" anchor="ctr">
                    <a:solidFill>
                      <a:srgbClr val="E6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Arial"/>
                        </a:rPr>
                        <a:t>Findings vary by reviewer</a:t>
                      </a:r>
                    </a:p>
                  </a:txBody>
                  <a:tcPr marL="45720" marR="45720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Arial"/>
                        </a:rPr>
                        <a:t>Same APH rule version for every application</a:t>
                      </a:r>
                    </a:p>
                  </a:txBody>
                  <a:tcPr marL="45720" marR="45720" marT="18288" marB="18288" anchor="ctr">
                    <a:solidFill>
                      <a:srgbClr val="E6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Arial"/>
                        </a:rPr>
                        <a:t>Inspectors re-check everything</a:t>
                      </a:r>
                    </a:p>
                  </a:txBody>
                  <a:tcPr marL="45720" marR="45720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Arial"/>
                        </a:rPr>
                        <a:t>EVC targets only unresolved items</a:t>
                      </a:r>
                    </a:p>
                  </a:txBody>
                  <a:tcPr marL="45720" marR="45720" marT="18288" marB="18288" anchor="ctr">
                    <a:solidFill>
                      <a:srgbClr val="E6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564" name="Picture 563" descr="FaFlask_s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001000" y="5056632"/>
            <a:ext cx="219456" cy="219456"/>
          </a:xfrm>
          <a:prstGeom prst="rect">
            <a:avLst/>
          </a:prstGeom>
        </p:spPr>
      </p:pic>
      <p:sp>
        <p:nvSpPr>
          <p:cNvPr id="565" name="TextBox 564"/>
          <p:cNvSpPr txBox="1"/>
          <p:nvPr/>
        </p:nvSpPr>
        <p:spPr>
          <a:xfrm>
            <a:off x="8275320" y="50292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E8772E"/>
                </a:solidFill>
                <a:latin typeface="Arial"/>
              </a:rPr>
              <a:t>KPIs we will measure and report</a:t>
            </a:r>
          </a:p>
        </p:txBody>
      </p:sp>
      <p:sp>
        <p:nvSpPr>
          <p:cNvPr id="566" name="Rounded Rectangle 565"/>
          <p:cNvSpPr/>
          <p:nvPr/>
        </p:nvSpPr>
        <p:spPr>
          <a:xfrm>
            <a:off x="8001000" y="5349240"/>
            <a:ext cx="1920240" cy="393192"/>
          </a:xfrm>
          <a:prstGeom prst="roundRect">
            <a:avLst>
              <a:gd name="adj" fmla="val 18604"/>
            </a:avLst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67" name="TextBox 566"/>
          <p:cNvSpPr txBox="1"/>
          <p:nvPr/>
        </p:nvSpPr>
        <p:spPr>
          <a:xfrm>
            <a:off x="8001000" y="5349240"/>
            <a:ext cx="1920240" cy="3931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850" b="1" i="0">
                <a:solidFill>
                  <a:srgbClr val="1F2937"/>
                </a:solidFill>
                <a:latin typeface="Arial"/>
              </a:rPr>
              <a:t>Precision / recall per tamper type</a:t>
            </a:r>
          </a:p>
        </p:txBody>
      </p:sp>
      <p:sp>
        <p:nvSpPr>
          <p:cNvPr id="568" name="Rounded Rectangle 567"/>
          <p:cNvSpPr/>
          <p:nvPr/>
        </p:nvSpPr>
        <p:spPr>
          <a:xfrm>
            <a:off x="9985248" y="5349240"/>
            <a:ext cx="1920240" cy="393192"/>
          </a:xfrm>
          <a:prstGeom prst="roundRect">
            <a:avLst>
              <a:gd name="adj" fmla="val 18604"/>
            </a:avLst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69" name="TextBox 568"/>
          <p:cNvSpPr txBox="1"/>
          <p:nvPr/>
        </p:nvSpPr>
        <p:spPr>
          <a:xfrm>
            <a:off x="9985248" y="5349240"/>
            <a:ext cx="1920240" cy="3931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850" b="1" i="0">
                <a:solidFill>
                  <a:srgbClr val="1F2937"/>
                </a:solidFill>
                <a:latin typeface="Arial"/>
              </a:rPr>
              <a:t>False flags per genuine application</a:t>
            </a:r>
          </a:p>
        </p:txBody>
      </p:sp>
      <p:sp>
        <p:nvSpPr>
          <p:cNvPr id="570" name="Rounded Rectangle 569"/>
          <p:cNvSpPr/>
          <p:nvPr/>
        </p:nvSpPr>
        <p:spPr>
          <a:xfrm>
            <a:off x="8001000" y="5806440"/>
            <a:ext cx="1920240" cy="393192"/>
          </a:xfrm>
          <a:prstGeom prst="roundRect">
            <a:avLst>
              <a:gd name="adj" fmla="val 18604"/>
            </a:avLst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71" name="TextBox 570"/>
          <p:cNvSpPr txBox="1"/>
          <p:nvPr/>
        </p:nvSpPr>
        <p:spPr>
          <a:xfrm>
            <a:off x="8001000" y="5806440"/>
            <a:ext cx="1920240" cy="3931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850" b="1" i="0">
                <a:solidFill>
                  <a:srgbClr val="1F2937"/>
                </a:solidFill>
                <a:latin typeface="Arial"/>
              </a:rPr>
              <a:t>Minutes per application vs. manual</a:t>
            </a:r>
          </a:p>
        </p:txBody>
      </p:sp>
      <p:sp>
        <p:nvSpPr>
          <p:cNvPr id="572" name="Rounded Rectangle 571"/>
          <p:cNvSpPr/>
          <p:nvPr/>
        </p:nvSpPr>
        <p:spPr>
          <a:xfrm>
            <a:off x="9985248" y="5806440"/>
            <a:ext cx="1920240" cy="393192"/>
          </a:xfrm>
          <a:prstGeom prst="roundRect">
            <a:avLst>
              <a:gd name="adj" fmla="val 18604"/>
            </a:avLst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73" name="TextBox 572"/>
          <p:cNvSpPr txBox="1"/>
          <p:nvPr/>
        </p:nvSpPr>
        <p:spPr>
          <a:xfrm>
            <a:off x="9985248" y="5806440"/>
            <a:ext cx="1920240" cy="39319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850" b="1" i="0">
                <a:solidFill>
                  <a:srgbClr val="1F2937"/>
                </a:solidFill>
                <a:latin typeface="Arial"/>
              </a:rPr>
              <a:t>% documents verified at source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30"/>
          <p:cNvSpPr/>
          <p:nvPr/>
        </p:nvSpPr>
        <p:spPr>
          <a:xfrm>
            <a:off x="0" y="6354762"/>
            <a:ext cx="12192000" cy="5031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30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RESEARCH  AND REFERENCES</a:t>
            </a:r>
            <a:endParaRPr/>
          </a:p>
        </p:txBody>
      </p:sp>
      <p:sp>
        <p:nvSpPr>
          <p:cNvPr id="534" name="Google Shape;534;p3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lang="en-US" b="1">
                <a:solidFill>
                  <a:srgbClr val="FFFFFF"/>
                </a:solidFill>
              </a:rPr>
              <a:t>6</a:t>
            </a:r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535" name="Google Shape;535;p30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</a:t>
            </a:r>
            <a:endParaRPr sz="1200" b="0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536" name="Google Shape;536;p30" descr="Your startup LOGO"/>
          <p:cNvSpPr/>
          <p:nvPr/>
        </p:nvSpPr>
        <p:spPr>
          <a:xfrm>
            <a:off x="329773" y="252246"/>
            <a:ext cx="1251900" cy="8073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Citadel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43" name="Google Shape;54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58404" y="16423"/>
            <a:ext cx="2113821" cy="990251"/>
          </a:xfrm>
          <a:prstGeom prst="rect">
            <a:avLst/>
          </a:prstGeom>
          <a:noFill/>
          <a:ln>
            <a:noFill/>
          </a:ln>
        </p:spPr>
      </p:pic>
      <p:sp>
        <p:nvSpPr>
          <p:cNvPr id="544" name="Rounded Rectangle 543"/>
          <p:cNvSpPr/>
          <p:nvPr/>
        </p:nvSpPr>
        <p:spPr>
          <a:xfrm>
            <a:off x="274320" y="1051560"/>
            <a:ext cx="7223760" cy="5212080"/>
          </a:xfrm>
          <a:prstGeom prst="roundRect">
            <a:avLst>
              <a:gd name="adj" fmla="val 5263"/>
            </a:avLst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45" name="TextBox 544"/>
          <p:cNvSpPr txBox="1"/>
          <p:nvPr/>
        </p:nvSpPr>
        <p:spPr>
          <a:xfrm>
            <a:off x="502920" y="1188720"/>
            <a:ext cx="6812280" cy="4983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350"/>
              </a:spcAft>
            </a:pPr>
            <a:r>
              <a:rPr sz="1150" b="1" i="0">
                <a:solidFill>
                  <a:srgbClr val="1B2A4A"/>
                </a:solidFill>
                <a:latin typeface="Arial"/>
              </a:rPr>
              <a:t>Regulatory: AICTE</a:t>
            </a:r>
          </a:p>
          <a:p>
            <a:pPr algn="l">
              <a:spcAft>
                <a:spcPts val="350"/>
              </a:spcAft>
            </a:pPr>
            <a:r>
              <a:rPr sz="1000" b="0" i="0">
                <a:solidFill>
                  <a:srgbClr val="1F2937"/>
                </a:solidFill>
                <a:latin typeface="Arial"/>
              </a:rPr>
              <a:t>• AICTE Approval Process Handbook 2024-25 to 2026-27 (Cl. 2.3.5, 2.4, 6.14, 6.17, 6.18, 7.4; Annexures 3, 5, 14)  </a:t>
            </a:r>
            <a:r>
              <a:rPr sz="800" b="0" i="0">
                <a:solidFill>
                  <a:srgbClr val="1F5FAD"/>
                </a:solidFill>
                <a:latin typeface="Arial"/>
                <a:hlinkClick r:id="rId4"/>
              </a:rPr>
              <a:t>https://cdnbbsr.s3waas.gov.in/s35938b4d054136e5d59ada6ec9c295d7a/uploads/2025…</a:t>
            </a:r>
          </a:p>
          <a:p>
            <a:pPr algn="l">
              <a:spcAft>
                <a:spcPts val="350"/>
              </a:spcAft>
            </a:pPr>
            <a:r>
              <a:rPr sz="1000" b="0" i="0">
                <a:solidFill>
                  <a:srgbClr val="1F2937"/>
                </a:solidFill>
                <a:latin typeface="Arial"/>
              </a:rPr>
              <a:t>• AICTE Grant of Approval guidelines 2024-27 (EVC, SHC, SAC process; fraudulent documents)  </a:t>
            </a:r>
            <a:r>
              <a:rPr sz="800" b="0" i="0">
                <a:solidFill>
                  <a:srgbClr val="1F5FAD"/>
                </a:solidFill>
                <a:latin typeface="Arial"/>
                <a:hlinkClick r:id="rId5"/>
              </a:rPr>
              <a:t>https://indiankanoon.org/doc/163708613/</a:t>
            </a:r>
          </a:p>
          <a:p>
            <a:pPr algn="l">
              <a:spcAft>
                <a:spcPts val="350"/>
              </a:spcAft>
            </a:pPr>
            <a:r>
              <a:rPr sz="1000" b="0" i="0">
                <a:solidFill>
                  <a:srgbClr val="1F2937"/>
                </a:solidFill>
                <a:latin typeface="Arial"/>
              </a:rPr>
              <a:t>• Sample AICTE EoA 2026-27 letter listing deficiencies based on self-disclosure (VESIT)  </a:t>
            </a:r>
            <a:r>
              <a:rPr sz="800" b="0" i="0">
                <a:solidFill>
                  <a:srgbClr val="1F5FAD"/>
                </a:solidFill>
                <a:latin typeface="Arial"/>
                <a:hlinkClick r:id="rId6"/>
              </a:rPr>
              <a:t>https://vesit.ves.ac.in/storage/aicte/1775193851EOA%20Report%202026-27%20(2).…</a:t>
            </a:r>
          </a:p>
          <a:p>
            <a:pPr algn="l">
              <a:spcAft>
                <a:spcPts val="350"/>
              </a:spcAft>
            </a:pPr>
            <a:r>
              <a:rPr sz="1150" b="1" i="0">
                <a:solidFill>
                  <a:srgbClr val="1B2A4A"/>
                </a:solidFill>
                <a:latin typeface="Arial"/>
              </a:rPr>
              <a:t>Data protection and AI governance</a:t>
            </a:r>
          </a:p>
          <a:p>
            <a:pPr algn="l">
              <a:spcAft>
                <a:spcPts val="350"/>
              </a:spcAft>
            </a:pPr>
            <a:r>
              <a:rPr sz="1000" b="0" i="0">
                <a:solidFill>
                  <a:srgbClr val="1F2937"/>
                </a:solidFill>
                <a:latin typeface="Arial"/>
              </a:rPr>
              <a:t>• Digital Personal Data Protection Act 2023 &amp; DPDP Rules 2025 (notified Nov 2025)  </a:t>
            </a:r>
            <a:r>
              <a:rPr sz="800" b="0" i="0">
                <a:solidFill>
                  <a:srgbClr val="1F5FAD"/>
                </a:solidFill>
                <a:latin typeface="Arial"/>
                <a:hlinkClick r:id="rId7"/>
              </a:rPr>
              <a:t>https://ssrana.in/articles/meity-notifies-final-digital-personal-data-protect…</a:t>
            </a:r>
          </a:p>
          <a:p>
            <a:pPr algn="l">
              <a:spcAft>
                <a:spcPts val="350"/>
              </a:spcAft>
            </a:pPr>
            <a:r>
              <a:rPr sz="1000" b="0" i="0">
                <a:solidFill>
                  <a:srgbClr val="1F2937"/>
                </a:solidFill>
                <a:latin typeface="Arial"/>
              </a:rPr>
              <a:t>• MeitY India AI Governance Guidelines (Nov 2025): human oversight, accountability  </a:t>
            </a:r>
            <a:r>
              <a:rPr sz="800" b="0" i="0">
                <a:solidFill>
                  <a:srgbClr val="1F5FAD"/>
                </a:solidFill>
                <a:latin typeface="Arial"/>
                <a:hlinkClick r:id="rId8"/>
              </a:rPr>
              <a:t>https://en.vikaspedia.in/viewcontent/e-governance/digital-india/india-ai-gove…</a:t>
            </a:r>
          </a:p>
          <a:p>
            <a:pPr algn="l">
              <a:spcAft>
                <a:spcPts val="350"/>
              </a:spcAft>
            </a:pPr>
            <a:r>
              <a:rPr sz="1150" b="1" i="0">
                <a:solidFill>
                  <a:srgbClr val="1B2A4A"/>
                </a:solidFill>
                <a:latin typeface="Arial"/>
              </a:rPr>
              <a:t>Verification infrastructure</a:t>
            </a:r>
          </a:p>
          <a:p>
            <a:pPr algn="l">
              <a:spcAft>
                <a:spcPts val="350"/>
              </a:spcAft>
            </a:pPr>
            <a:r>
              <a:rPr sz="1000" b="0" i="0">
                <a:solidFill>
                  <a:srgbClr val="1F2937"/>
                </a:solidFill>
                <a:latin typeface="Arial"/>
              </a:rPr>
              <a:t>• DigiLocker Requester Entity Locker API Specification, NeGD (28-11-2024)  </a:t>
            </a:r>
            <a:r>
              <a:rPr sz="800" b="0" i="0">
                <a:solidFill>
                  <a:srgbClr val="1F5FAD"/>
                </a:solidFill>
                <a:latin typeface="Arial"/>
                <a:hlinkClick r:id="rId9"/>
              </a:rPr>
              <a:t>https://entity.digilocker.gov.in/assets/img/Requester%20-%20Entity%20Locker%2…</a:t>
            </a:r>
          </a:p>
          <a:p>
            <a:pPr algn="l">
              <a:spcAft>
                <a:spcPts val="350"/>
              </a:spcAft>
            </a:pPr>
            <a:r>
              <a:rPr sz="1000" b="0" i="0">
                <a:solidFill>
                  <a:srgbClr val="1F2937"/>
                </a:solidFill>
                <a:latin typeface="Arial"/>
              </a:rPr>
              <a:t>• AICTE circular on NAD / DigiLocker adoption (06/2021)  </a:t>
            </a:r>
            <a:r>
              <a:rPr sz="800" b="0" i="0">
                <a:solidFill>
                  <a:srgbClr val="1F5FAD"/>
                </a:solidFill>
                <a:latin typeface="Arial"/>
                <a:hlinkClick r:id="rId10"/>
              </a:rPr>
              <a:t>https://cdn.digilocker.gov.in/nad/assets/circulars/4%20Circular_AICTE_NAD_Dig…</a:t>
            </a:r>
          </a:p>
          <a:p>
            <a:pPr algn="l">
              <a:spcAft>
                <a:spcPts val="350"/>
              </a:spcAft>
            </a:pPr>
            <a:r>
              <a:rPr sz="1000" b="0" i="0">
                <a:solidFill>
                  <a:srgbClr val="1F2937"/>
                </a:solidFill>
                <a:latin typeface="Arial"/>
              </a:rPr>
              <a:t>• pyHanko: PDF digital-signature validation  </a:t>
            </a:r>
            <a:r>
              <a:rPr sz="800" b="0" i="0">
                <a:solidFill>
                  <a:srgbClr val="1F5FAD"/>
                </a:solidFill>
                <a:latin typeface="Arial"/>
                <a:hlinkClick r:id="rId11"/>
              </a:rPr>
              <a:t>https://pyhanko.readthedocs.io/</a:t>
            </a:r>
          </a:p>
          <a:p>
            <a:pPr algn="l">
              <a:spcAft>
                <a:spcPts val="350"/>
              </a:spcAft>
            </a:pPr>
            <a:r>
              <a:rPr sz="1150" b="1" i="0">
                <a:solidFill>
                  <a:srgbClr val="1B2A4A"/>
                </a:solidFill>
                <a:latin typeface="Arial"/>
              </a:rPr>
              <a:t>Research and prior work</a:t>
            </a:r>
          </a:p>
          <a:p>
            <a:pPr algn="l">
              <a:spcAft>
                <a:spcPts val="350"/>
              </a:spcAft>
            </a:pPr>
            <a:r>
              <a:rPr sz="1000" b="0" i="0">
                <a:solidFill>
                  <a:srgbClr val="1F2937"/>
                </a:solidFill>
                <a:latin typeface="Arial"/>
              </a:rPr>
              <a:t>• Grobler et al., A Technique for the Detection of PDF Tampering or Forgery, arXiv:2507.00827 (2025)  </a:t>
            </a:r>
            <a:r>
              <a:rPr sz="800" b="0" i="0">
                <a:solidFill>
                  <a:srgbClr val="1F5FAD"/>
                </a:solidFill>
                <a:latin typeface="Arial"/>
                <a:hlinkClick r:id="rId12"/>
              </a:rPr>
              <a:t>https://arxiv.org/abs/2507.00827</a:t>
            </a:r>
          </a:p>
          <a:p>
            <a:pPr algn="l">
              <a:spcAft>
                <a:spcPts val="350"/>
              </a:spcAft>
            </a:pPr>
            <a:r>
              <a:rPr sz="1000" b="0" i="0">
                <a:solidFill>
                  <a:srgbClr val="1F2937"/>
                </a:solidFill>
                <a:latin typeface="Arial"/>
              </a:rPr>
              <a:t>• PaddleOCR: multilingual OCR toolkit (PaddlePaddle)  </a:t>
            </a:r>
            <a:r>
              <a:rPr sz="800" b="0" i="0">
                <a:solidFill>
                  <a:srgbClr val="1F5FAD"/>
                </a:solidFill>
                <a:latin typeface="Arial"/>
                <a:hlinkClick r:id="rId13"/>
              </a:rPr>
              <a:t>https://github.com/PaddlePaddle/PaddleOCR</a:t>
            </a:r>
          </a:p>
          <a:p>
            <a:pPr algn="l">
              <a:spcAft>
                <a:spcPts val="350"/>
              </a:spcAft>
            </a:pPr>
            <a:r>
              <a:rPr sz="1000" b="0" i="0">
                <a:solidFill>
                  <a:srgbClr val="1F2937"/>
                </a:solidFill>
                <a:latin typeface="Arial"/>
              </a:rPr>
              <a:t>• SIH 2024 AICTE problem statements SIH1729 (AI approval portal) and SIH1730 (AI inspection)  </a:t>
            </a:r>
            <a:r>
              <a:rPr sz="800" b="0" i="0">
                <a:solidFill>
                  <a:srgbClr val="1F5FAD"/>
                </a:solidFill>
                <a:latin typeface="Arial"/>
                <a:hlinkClick r:id="rId14"/>
              </a:rPr>
              <a:t>https://www.driems.ac.in/wp-content/uploads/2024/08/SIH_2024_PS.pdf</a:t>
            </a:r>
          </a:p>
        </p:txBody>
      </p:sp>
      <p:pic>
        <p:nvPicPr>
          <p:cNvPr id="546" name="Picture 545" descr="FaFilter_s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726679" y="1078992"/>
            <a:ext cx="219456" cy="219456"/>
          </a:xfrm>
          <a:prstGeom prst="rect">
            <a:avLst/>
          </a:prstGeom>
        </p:spPr>
      </p:pic>
      <p:sp>
        <p:nvSpPr>
          <p:cNvPr id="547" name="TextBox 546"/>
          <p:cNvSpPr txBox="1"/>
          <p:nvPr/>
        </p:nvSpPr>
        <p:spPr>
          <a:xfrm>
            <a:off x="8001000" y="1051560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Arial"/>
              </a:rPr>
              <a:t>How we compare</a:t>
            </a:r>
          </a:p>
        </p:txBody>
      </p:sp>
      <p:graphicFrame>
        <p:nvGraphicFramePr>
          <p:cNvPr id="548" name="Table 547"/>
          <p:cNvGraphicFramePr>
            <a:graphicFrameLocks noGrp="1"/>
          </p:cNvGraphicFramePr>
          <p:nvPr/>
        </p:nvGraphicFramePr>
        <p:xfrm>
          <a:off x="7726679" y="1371600"/>
          <a:ext cx="4206240" cy="208483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Capability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KYC tools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Typical SIH entry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DossierGraph</a:t>
                      </a:r>
                    </a:p>
                  </a:txBody>
                  <a:tcPr marL="45720" marR="45720" marT="18288" marB="18288"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Arial"/>
                        </a:rPr>
                        <a:t>Verify at issuer</a:t>
                      </a:r>
                    </a:p>
                  </a:txBody>
                  <a:tcPr marL="45720" marR="45720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2E8B57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D99A00"/>
                          </a:solidFill>
                          <a:latin typeface="Arial"/>
                        </a:rPr>
                        <a:t>Partial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2E8B57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Arial"/>
                        </a:rPr>
                        <a:t>Whole-dossier cross-checks</a:t>
                      </a:r>
                    </a:p>
                  </a:txBody>
                  <a:tcPr marL="45720" marR="45720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C0392B"/>
                          </a:solidFill>
                          <a:latin typeface="Arial"/>
                        </a:rPr>
                        <a:t>✗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D99A00"/>
                          </a:solidFill>
                          <a:latin typeface="Arial"/>
                        </a:rPr>
                        <a:t>Partial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2E8B57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Arial"/>
                        </a:rPr>
                        <a:t>APH rules with clauses</a:t>
                      </a:r>
                    </a:p>
                  </a:txBody>
                  <a:tcPr marL="45720" marR="45720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C0392B"/>
                          </a:solidFill>
                          <a:latin typeface="Arial"/>
                        </a:rPr>
                        <a:t>✗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D99A00"/>
                          </a:solidFill>
                          <a:latin typeface="Arial"/>
                        </a:rPr>
                        <a:t>Partial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2E8B57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Arial"/>
                        </a:rPr>
                        <a:t>Measured accuracy, open data</a:t>
                      </a:r>
                    </a:p>
                  </a:txBody>
                  <a:tcPr marL="45720" marR="45720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D99A00"/>
                          </a:solidFill>
                          <a:latin typeface="Arial"/>
                        </a:rPr>
                        <a:t>Partial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C0392B"/>
                          </a:solidFill>
                          <a:latin typeface="Arial"/>
                        </a:rPr>
                        <a:t>✗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2E8B57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Arial"/>
                        </a:rPr>
                        <a:t>On-prem, DPDP-aligned</a:t>
                      </a:r>
                    </a:p>
                  </a:txBody>
                  <a:tcPr marL="45720" marR="45720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D99A00"/>
                          </a:solidFill>
                          <a:latin typeface="Arial"/>
                        </a:rPr>
                        <a:t>Partial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D99A00"/>
                          </a:solidFill>
                          <a:latin typeface="Arial"/>
                        </a:rPr>
                        <a:t>Partial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2E8B57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49" name="TextBox 548"/>
          <p:cNvSpPr txBox="1"/>
          <p:nvPr/>
        </p:nvSpPr>
        <p:spPr>
          <a:xfrm>
            <a:off x="7726679" y="3493008"/>
            <a:ext cx="4206240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750" b="0" i="1">
                <a:solidFill>
                  <a:srgbClr val="6B7280"/>
                </a:solidFill>
                <a:latin typeface="Arial"/>
              </a:rPr>
              <a:t>KYC tools: e.g. IDfy, HyperVerge (tamper checks for KYC and lending). Typical SIH entry: public SIH26261 repositories, Oct 2026.</a:t>
            </a:r>
          </a:p>
        </p:txBody>
      </p:sp>
      <p:pic>
        <p:nvPicPr>
          <p:cNvPr id="550" name="Picture 549" descr="FaBookOpen_s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726679" y="3886200"/>
            <a:ext cx="219456" cy="219456"/>
          </a:xfrm>
          <a:prstGeom prst="rect">
            <a:avLst/>
          </a:prstGeom>
        </p:spPr>
      </p:pic>
      <p:sp>
        <p:nvSpPr>
          <p:cNvPr id="551" name="TextBox 550"/>
          <p:cNvSpPr txBox="1"/>
          <p:nvPr/>
        </p:nvSpPr>
        <p:spPr>
          <a:xfrm>
            <a:off x="8001000" y="3858768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E8772E"/>
                </a:solidFill>
                <a:latin typeface="Arial"/>
              </a:rPr>
              <a:t>Regulatory facts we build on</a:t>
            </a:r>
          </a:p>
        </p:txBody>
      </p:sp>
      <p:sp>
        <p:nvSpPr>
          <p:cNvPr id="552" name="Rounded Rectangle 551"/>
          <p:cNvSpPr/>
          <p:nvPr/>
        </p:nvSpPr>
        <p:spPr>
          <a:xfrm>
            <a:off x="7726679" y="4187952"/>
            <a:ext cx="2057400" cy="978408"/>
          </a:xfrm>
          <a:prstGeom prst="roundRect">
            <a:avLst>
              <a:gd name="adj" fmla="val 11214"/>
            </a:avLst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53" name="TextBox 552"/>
          <p:cNvSpPr txBox="1"/>
          <p:nvPr/>
        </p:nvSpPr>
        <p:spPr>
          <a:xfrm>
            <a:off x="7799831" y="4224528"/>
            <a:ext cx="1920240" cy="36576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500" b="1" i="0">
                <a:solidFill>
                  <a:srgbClr val="E8772E"/>
                </a:solidFill>
                <a:latin typeface="Arial"/>
              </a:rPr>
              <a:t>Cl. 2.3.5(b)</a:t>
            </a:r>
          </a:p>
        </p:txBody>
      </p:sp>
      <p:sp>
        <p:nvSpPr>
          <p:cNvPr id="554" name="TextBox 553"/>
          <p:cNvSpPr txBox="1"/>
          <p:nvPr/>
        </p:nvSpPr>
        <p:spPr>
          <a:xfrm>
            <a:off x="7799831" y="4590288"/>
            <a:ext cx="1920240" cy="5486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  <a:latin typeface="Arial"/>
              </a:rPr>
              <a:t>Fraudulent document → criminal case against Principal and Trust</a:t>
            </a:r>
          </a:p>
        </p:txBody>
      </p:sp>
      <p:sp>
        <p:nvSpPr>
          <p:cNvPr id="555" name="Rounded Rectangle 554"/>
          <p:cNvSpPr/>
          <p:nvPr/>
        </p:nvSpPr>
        <p:spPr>
          <a:xfrm>
            <a:off x="9857232" y="4187952"/>
            <a:ext cx="2057400" cy="978408"/>
          </a:xfrm>
          <a:prstGeom prst="roundRect">
            <a:avLst>
              <a:gd name="adj" fmla="val 11214"/>
            </a:avLst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56" name="TextBox 555"/>
          <p:cNvSpPr txBox="1"/>
          <p:nvPr/>
        </p:nvSpPr>
        <p:spPr>
          <a:xfrm>
            <a:off x="9930384" y="4224528"/>
            <a:ext cx="1920240" cy="36576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500" b="1" i="0">
                <a:solidFill>
                  <a:srgbClr val="E8772E"/>
                </a:solidFill>
                <a:latin typeface="Arial"/>
              </a:rPr>
              <a:t>6 months</a:t>
            </a:r>
          </a:p>
        </p:txBody>
      </p:sp>
      <p:sp>
        <p:nvSpPr>
          <p:cNvPr id="557" name="TextBox 556"/>
          <p:cNvSpPr txBox="1"/>
          <p:nvPr/>
        </p:nvSpPr>
        <p:spPr>
          <a:xfrm>
            <a:off x="9930384" y="4590288"/>
            <a:ext cx="1920240" cy="5486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  <a:latin typeface="Arial"/>
              </a:rPr>
              <a:t>Window to fix self-disclosure deficiencies in EoA letters</a:t>
            </a:r>
          </a:p>
        </p:txBody>
      </p:sp>
      <p:sp>
        <p:nvSpPr>
          <p:cNvPr id="558" name="Rounded Rectangle 557"/>
          <p:cNvSpPr/>
          <p:nvPr/>
        </p:nvSpPr>
        <p:spPr>
          <a:xfrm>
            <a:off x="7726679" y="5239512"/>
            <a:ext cx="2057400" cy="978408"/>
          </a:xfrm>
          <a:prstGeom prst="roundRect">
            <a:avLst>
              <a:gd name="adj" fmla="val 11214"/>
            </a:avLst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59" name="TextBox 558"/>
          <p:cNvSpPr txBox="1"/>
          <p:nvPr/>
        </p:nvSpPr>
        <p:spPr>
          <a:xfrm>
            <a:off x="7799831" y="5276088"/>
            <a:ext cx="1920240" cy="36576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500" b="1" i="0">
                <a:solidFill>
                  <a:srgbClr val="E8772E"/>
                </a:solidFill>
                <a:latin typeface="Arial"/>
              </a:rPr>
              <a:t>Nov 2025</a:t>
            </a:r>
          </a:p>
        </p:txBody>
      </p:sp>
      <p:sp>
        <p:nvSpPr>
          <p:cNvPr id="560" name="TextBox 559"/>
          <p:cNvSpPr txBox="1"/>
          <p:nvPr/>
        </p:nvSpPr>
        <p:spPr>
          <a:xfrm>
            <a:off x="7799831" y="5641848"/>
            <a:ext cx="1920240" cy="5486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  <a:latin typeface="Arial"/>
              </a:rPr>
              <a:t>DPDP Rules notified; MeitY AI guidelines issued</a:t>
            </a:r>
          </a:p>
        </p:txBody>
      </p:sp>
      <p:sp>
        <p:nvSpPr>
          <p:cNvPr id="561" name="Rounded Rectangle 560"/>
          <p:cNvSpPr/>
          <p:nvPr/>
        </p:nvSpPr>
        <p:spPr>
          <a:xfrm>
            <a:off x="9857232" y="5239512"/>
            <a:ext cx="2057400" cy="978408"/>
          </a:xfrm>
          <a:prstGeom prst="roundRect">
            <a:avLst>
              <a:gd name="adj" fmla="val 11214"/>
            </a:avLst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62" name="TextBox 561"/>
          <p:cNvSpPr txBox="1"/>
          <p:nvPr/>
        </p:nvSpPr>
        <p:spPr>
          <a:xfrm>
            <a:off x="9930384" y="5276088"/>
            <a:ext cx="1920240" cy="36576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500" b="1" i="0">
                <a:solidFill>
                  <a:srgbClr val="E8772E"/>
                </a:solidFill>
                <a:latin typeface="Arial"/>
              </a:rPr>
              <a:t>30 yrs / 5 yrs</a:t>
            </a:r>
          </a:p>
        </p:txBody>
      </p:sp>
      <p:sp>
        <p:nvSpPr>
          <p:cNvPr id="563" name="TextBox 562"/>
          <p:cNvSpPr txBox="1"/>
          <p:nvPr/>
        </p:nvSpPr>
        <p:spPr>
          <a:xfrm>
            <a:off x="9930384" y="5641848"/>
            <a:ext cx="1920240" cy="5486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850" b="0" i="0">
                <a:solidFill>
                  <a:srgbClr val="1F2937"/>
                </a:solidFill>
                <a:latin typeface="Arial"/>
              </a:rPr>
              <a:t>Min. land lease (Cl. 6.17a); stability cert validity (6.17h)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2000</Words>
  <Application>Microsoft Macintosh PowerPoint</Application>
  <PresentationFormat>Widescreen</PresentationFormat>
  <Paragraphs>330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Calibri</vt:lpstr>
      <vt:lpstr>Arial</vt:lpstr>
      <vt:lpstr>Times New Roman</vt:lpstr>
      <vt:lpstr>Courier New</vt:lpstr>
      <vt:lpstr>Oswald</vt:lpstr>
      <vt:lpstr>Garamond</vt:lpstr>
      <vt:lpstr>Office Theme</vt:lpstr>
      <vt:lpstr>Office Theme</vt:lpstr>
      <vt:lpstr>SMART INDIA HACKATHON 2026</vt:lpstr>
      <vt:lpstr>IDEA TITLE</vt:lpstr>
      <vt:lpstr>PowerPoint Presentation</vt:lpstr>
      <vt:lpstr>FEASIBILITY AND VIABILITY</vt:lpstr>
      <vt:lpstr>IMPACT AND BENEFITS</vt:lpstr>
      <vt:lpstr>RESEARCH  AND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Vamika Bhat</cp:lastModifiedBy>
  <cp:revision>1</cp:revision>
  <dcterms:modified xsi:type="dcterms:W3CDTF">2026-10-26T16:17:10Z</dcterms:modified>
</cp:coreProperties>
</file>
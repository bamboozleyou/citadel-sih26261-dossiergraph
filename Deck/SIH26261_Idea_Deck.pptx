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554480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[Team Name]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0" y="1097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Smart India Hackathon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@SIH Idea submission- Template</a:t>
            </a:r>
            <a:endParaRPr lang="en-US" sz="10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274320" y="548640"/>
            <a:ext cx="8595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@SIH Idea submission- Template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dnbbsr.s3waas.gov.in/s35938b4d054136e5d59ada6ec9c295d7a/uploads/2025/03/2025031399.pdf" TargetMode="External"/><Relationship Id="rId2" Type="http://schemas.openxmlformats.org/officeDocument/2006/relationships/hyperlink" Target="https://indiankanoon.org/doc/163708613/" TargetMode="External"/><Relationship Id="rId3" Type="http://schemas.openxmlformats.org/officeDocument/2006/relationships/hyperlink" Target="https://ssrana.in/articles/meity-notifies-final-digital-personal-data-protection-rules-2025/" TargetMode="External"/><Relationship Id="rId4" Type="http://schemas.openxmlformats.org/officeDocument/2006/relationships/hyperlink" Target="https://en.vikaspedia.in/viewcontent/e-governance/digital-india/india-ai-governance-guidelines?lgn=en" TargetMode="External"/><Relationship Id="rId5" Type="http://schemas.openxmlformats.org/officeDocument/2006/relationships/hyperlink" Target="https://entity.digilocker.gov.in/assets/img/Requester%20-%20Entity%20Locker%20API%20Specification_28_11_24.pdf" TargetMode="External"/><Relationship Id="rId6" Type="http://schemas.openxmlformats.org/officeDocument/2006/relationships/hyperlink" Target="https://pyhanko.readthedocs.io/" TargetMode="External"/><Relationship Id="rId7" Type="http://schemas.openxmlformats.org/officeDocument/2006/relationships/hyperlink" Target="https://arxiv.org/abs/2507.00827" TargetMode="External"/><Relationship Id="rId8" Type="http://schemas.openxmlformats.org/officeDocument/2006/relationships/hyperlink" Target="https://www.driems.ac.in/wp-content/uploads/2024/08/SIH_2024_PS.pdf" TargetMode="Externa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SMART INDIA HACKATHON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DossierGraph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Evidence, not opinions: measured AI pre-scrutiny for AICTE approval dossiers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Problem Statement ID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SIH26261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Problem Statement Title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AI-Powered Application Validation, Document Authentication and Regulatory Compliance Verification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Theme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[Theme as listed on the SIH portal]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PS Category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Software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Team ID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[Team ID]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Team Name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[Team Name]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274320" y="548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DossierGraph: whole-dossier AI pre-scrutiny for AICTE approvals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32588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43584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109728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Secure upload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591056" y="109728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›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728216" y="1097280"/>
            <a:ext cx="132588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12435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39696" y="109728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OCR + extract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3044952" y="109728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182112" y="1097280"/>
            <a:ext cx="132588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124358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93592" y="109728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Verify at issuer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4498848" y="109728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›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636008" y="1097280"/>
            <a:ext cx="132588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24358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47488" y="109728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Dossier graph + APH rules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5952744" y="109728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089904" y="1097280"/>
            <a:ext cx="132588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243584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501384" y="109728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Forensics on scans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7406640" y="109728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7543800" y="1097280"/>
            <a:ext cx="132588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243584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955280" y="109728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Officer decides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274320" y="1801368"/>
            <a:ext cx="420624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411480" y="1874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Proposed solution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411480" y="2130552"/>
            <a:ext cx="3977640" cy="84124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 AI pre-scrutiny engine that checks an institution's whole approval dossier: each document against its issuer, against APH 2024-27, and against every other document. Officers get evidence-linked findings; they make every decision.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411480" y="2926080"/>
            <a:ext cx="3977640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Smart intake: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classify + OCR 8 document types (English + Hindi)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Verify first: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DSC, QR and DigiLocker checks before any forensics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Dossier graph: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land deed ↔ building plan ↔ OC ↔ fire certificate ↔ declared area ↔ faculty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Rules as code: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20 APH 2024-27 rules, each citing its clause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11480" y="420624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502920" y="42062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Example flag: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fire certificate address ≠ building-plan address (APH Cl. 6.17(i)), evidence crops attached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663440" y="1801368"/>
            <a:ext cx="4206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800600" y="1874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How it addresses the problem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4800600" y="2130552"/>
            <a:ext cx="3977640" cy="1051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Self-disclosed papers trusted at entry →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inconsistencies flagged at submission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Repetitive manual checks →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triaged queue; evidence + clause on each flag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Hard to confirm with issuers →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6 clear statuses, unresolved cases routed to manual review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4663440" y="3310128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4800600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Innovation &amp; uniqueness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4800600" y="3639312"/>
            <a:ext cx="3977640" cy="1051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Dossier-level cross-consistency,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not single-document KYC checks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Accuracy proven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on an open, labelled forgery benchmark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Rules track APH changes;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AI advises, the officer decides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274320" y="548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Technical approach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051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Technologies to be used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44168"/>
          <a:ext cx="30175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057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Frontend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Next.js · Tailwind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Backend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FastAPI · Celery + Redis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PostgreSQL · MinIO (S3)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AI / OCR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PaddleOCR (EN + Hindi) · OpenCV · doc classifier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Verification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pyHanko (DSC) · QR decode · DigiLocker adapter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Trust layer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Keycloak · OPA · Vault · ClamAV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520440" y="1051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520440" y="1874520"/>
            <a:ext cx="96012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520440" y="1874520"/>
            <a:ext cx="9601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Secure intake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09160" y="1874520"/>
            <a:ext cx="96012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09160" y="1874520"/>
            <a:ext cx="9601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OCR + classify + extract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141732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0" y="1371600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Verify at issuer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1965960"/>
            <a:ext cx="14173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Dossier graph + APH rules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2560320"/>
            <a:ext cx="141732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2560320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Forensics (unsigned scans)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35240" y="1691640"/>
            <a:ext cx="12344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35240" y="1691640"/>
            <a:ext cx="12344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Officer evidence workstation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80560" y="2194560"/>
            <a:ext cx="2286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V="1">
            <a:off x="5669280" y="1600200"/>
            <a:ext cx="274320" cy="5943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669280" y="2194560"/>
            <a:ext cx="2743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669280" y="2194560"/>
            <a:ext cx="274320" cy="5943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360920" y="1600200"/>
            <a:ext cx="274320" cy="41148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360920" y="2194560"/>
            <a:ext cx="2743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 flipV="1">
            <a:off x="7360920" y="2423160"/>
            <a:ext cx="274320" cy="3657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520440" y="3127248"/>
            <a:ext cx="5349240" cy="329184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182112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3886200" y="31272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Trust layer: encryption · role-based access · tamper-evident audit log · on-prem AI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3520440" y="3566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520440" y="38587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52044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3520440" y="4160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Scan, sanitise and encrypt every upload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599432" y="38587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599432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4599432" y="4160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OCR + extract facts with page coordinates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678424" y="38587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678424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5678424" y="4160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Verify signed docs at source; forensics only on scans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6757416" y="38587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757416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6757416" y="4160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Build dossier graph; run versioned APH rules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7836408" y="38587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7836408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7836408" y="4160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Officer reviews evidence; adverse outcomes need a 2nd officer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274320" y="3767328"/>
            <a:ext cx="3017520" cy="987552"/>
          </a:xfrm>
          <a:prstGeom prst="roundRect">
            <a:avLst>
              <a:gd name="adj" fmla="val 7407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365760" y="3794760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All open-source, all on-prem.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No applicant data is sent to third-party AI APIs. Rules live as versioned YAML, so they can be updated when the APH changes.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274320" y="548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Feasibility and viability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51560"/>
            <a:ext cx="2029968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0881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Technical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3258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Proven open-source parts; no custom model training needed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41448" y="1051560"/>
            <a:ext cx="2029968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32888" y="10881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Operational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532888" y="13258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Runs before the Scrutiny Committee; APH committee flow unchanged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08576" y="1051560"/>
            <a:ext cx="2029968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0016" y="10881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Economic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13258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Open-source and on-prem; scale by adding worker nodes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75704" y="1051560"/>
            <a:ext cx="2029968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67144" y="10881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Legal &amp; privacy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67144" y="13258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Aligned to DPDP Act 2023 and MeitY AI guidelines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65960"/>
          <a:ext cx="8595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5029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Potential challenges &amp; risks</a:t>
                      </a:r>
                      <a:endParaRPr lang="en-US" sz="11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Strategies for overcoming them</a:t>
                      </a:r>
                      <a:endParaRPr lang="en-US" sz="11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Poor-quality or regional-language scans</a:t>
                      </a:r>
                      <a:endParaRPr lang="en-US" sz="10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Indic OCR models; low-confidence fields go to manual review</a:t>
                      </a:r>
                      <a:endParaRPr lang="en-US" sz="10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Sophisticated forgeries evade forensics</a:t>
                      </a:r>
                      <a:endParaRPr lang="en-US" sz="10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Verify at issuer first; forensics is multi-signal and advisory</a:t>
                      </a:r>
                      <a:endParaRPr lang="en-US" sz="10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False flags add officer workload</a:t>
                      </a:r>
                      <a:endParaRPr lang="en-US" sz="10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Thresholds tuned on the benchmark; false flags per genuine application tracked</a:t>
                      </a:r>
                      <a:endParaRPr lang="en-US" sz="10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No public APIs for fire NOCs or land records</a:t>
                      </a:r>
                      <a:endParaRPr lang="en-US" sz="10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Pluggable adapters, spec-faithful mocks, 'Source unavailable' status</a:t>
                      </a:r>
                      <a:endParaRPr lang="en-US" sz="10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Sensitive institutional and personal data</a:t>
                      </a:r>
                      <a:endParaRPr lang="en-US" sz="10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Encryption, role-based access, tamper-evident audit log, on-prem AI</a:t>
                      </a:r>
                      <a:endParaRPr lang="en-US" sz="1050" dirty="0"/>
                    </a:p>
                  </a:txBody>
                  <a:tcPr marL="76200" marR="762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274320" y="3840480"/>
            <a:ext cx="8595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059936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1440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How we'll prove it works: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an open synthetic benchmark of 200 institutions, ~2,000 documents and 8 labelled tamper types. We report precision and recall per tamper type and false flags per genuine application. No unmeasured accuracy claims.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274320" y="548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Impact and benefits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051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Impact on the target audience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408176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517904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13716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AICTE scrutiny officers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16093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Triaged queue; every flag shows evidence and its APH clause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20299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3969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1248" y="1993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Institutions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41248" y="22311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Pre-check before submission means fewer deficiency rounds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26517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7614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" y="26151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Expert Visit Committees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841248" y="28529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 'verify on site' list of only what could not be confirmed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74320" y="32735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3832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1248" y="32369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Students and public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841248" y="34747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Approved institutions' claims are better verified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297680" y="1051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Today vs. with DossierGraph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344168"/>
          <a:ext cx="4572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Today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With DossierGraph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Documents trusted on self-disclosure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Cross-checked against issuers and each other at submission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Deficiencies fixed up to 6 months after EoA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Fixed before submission via pre-check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Findings vary by reviewer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Same versioned APH rules for every application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Inspectors re-check everything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EVC targets only unresolved items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274320" y="3950208"/>
            <a:ext cx="2029968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365760" y="398678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Social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365760" y="422452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Fewer students at institutions with false claims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2441448" y="3950208"/>
            <a:ext cx="2029968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2532888" y="398678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Economic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2532888" y="422452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Less officer and inspection time per application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608576" y="3950208"/>
            <a:ext cx="2029968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4700016" y="398678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Operational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4700016" y="422452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Earlier deficiency detection; faster processing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775704" y="3950208"/>
            <a:ext cx="2029968" cy="786384"/>
          </a:xfrm>
          <a:prstGeom prst="roundRect">
            <a:avLst>
              <a:gd name="adj" fmla="val 9302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67144" y="398678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Governance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6867144" y="422452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Tamper-evident record of every rule and decision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274320" y="548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Research and references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051560"/>
            <a:ext cx="4572000" cy="3703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Regulatory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u="sng" dirty="0">
                <a:solidFill>
                  <a:schemeClr val="tx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AICTE Approval Process Handbook 2024-25 to 2026-27: Cl. 2.3.5, 2.4, 6.14, 6.17, 6.18, 7.4; Annex. 3, 5, 14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  cdnbbsr.s3waas.gov.in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AICTE Grant of Approval guidelines 2024-27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  indiankanoon.org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u="sng" dirty="0">
                <a:solidFill>
                  <a:schemeClr val="tx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DPDP Act 2023 and DPDP Rules 2025 (notified Nov 2025)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  ssrana.in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u="sng" dirty="0">
                <a:solidFill>
                  <a:schemeClr val="tx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MeitY India AI Governance Guidelines (Nov 2025)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  en.vikaspedia.in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Integration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u="sng" dirty="0">
                <a:solidFill>
                  <a:schemeClr val="tx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DigiLocker Requester Entity Locker API Specification, NeGD (Nov 2024)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  entity.digilocker.gov.in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u="sng" dirty="0">
                <a:solidFill>
                  <a:schemeClr val="tx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pyHanko: PDF digital-signature validation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  pyhanko.readthedocs.io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Research and prior work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u="sng" dirty="0">
                <a:solidFill>
                  <a:schemeClr val="tx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Grobler et al., A Technique for the Detection of PDF Tampering or Forgery, arXiv:2507.00827 (2025)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  arxiv.org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u="sng" dirty="0">
                <a:solidFill>
                  <a:schemeClr val="tx1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SIH 2024 AICTE PSs SIH1729 (AI approval portal) and SIH1730 (AI inspection)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  driems.ac.in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74920" y="10515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How we compare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344168"/>
          <a:ext cx="37947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685800"/>
                <a:gridCol w="82296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Capability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KYC tools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Typical SIH entry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DossierGraph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Verify at issuer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4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Whole-dossier cross-checks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4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APH rules with clauses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4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Measured accuracy, open data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4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On-prem, DPDP-aligned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4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4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74920" y="37947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KYC tools: e.g. IDfy, HyperVerge (document tamper checks for KYC and lending). Typical SIH entry: based on public SIH26261 repositories, Oct 2026.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H DossierGraph">
  <a:themeElements>
    <a:clrScheme name="SIH DossierGraph">
      <a:dk1>
        <a:srgbClr val="1F2937"/>
      </a:dk1>
      <a:lt1>
        <a:srgbClr val="FFFFFF"/>
      </a:lt1>
      <a:dk2>
        <a:srgbClr val="14284B"/>
      </a:dk2>
      <a:lt2>
        <a:srgbClr val="EEF2F8"/>
      </a:lt2>
      <a:accent1>
        <a:srgbClr val="E8772E"/>
      </a:accent1>
      <a:accent2>
        <a:srgbClr val="1A9E75"/>
      </a:accent2>
      <a:accent3>
        <a:srgbClr val="C0392B"/>
      </a:accent3>
      <a:accent4>
        <a:srgbClr val="D99A00"/>
      </a:accent4>
      <a:accent5>
        <a:srgbClr val="2F6FB0"/>
      </a:accent5>
      <a:accent6>
        <a:srgbClr val="6B7280"/>
      </a:accent6>
      <a:hlink>
        <a:srgbClr val="2F6FB0"/>
      </a:hlink>
      <a:folHlink>
        <a:srgbClr val="6B4FA0"/>
      </a:folHlink>
    </a:clrScheme>
    <a:fontScheme name="SIH DossierGrap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SIH26261 Idea Submission</dc:title>
  <dc:subject>PptxGenJS Presentation</dc:subject>
  <dc:creator>[Team Name]</dc:creator>
  <cp:lastModifiedBy>[Team Name]</cp:lastModifiedBy>
  <cp:revision>1</cp:revision>
  <dcterms:created xsi:type="dcterms:W3CDTF">2026-10-26T13:56:20Z</dcterms:created>
  <dcterms:modified xsi:type="dcterms:W3CDTF">2026-10-26T13:56:20Z</dcterms:modified>
</cp:coreProperties>
</file>